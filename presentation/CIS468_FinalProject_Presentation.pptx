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1DEFCBDA-C07B-4F20-A00B-39F2FEFE07FE}" type="datetimeFigureOut">
              <a:t>5/12/2026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06E9562B-A215-4B40-935F-37FFDF63DC52}" type="slidenum">
              <a:t>‹#›</a:t>
            </a:fld>
            <a:endParaRPr lang="en-US"/>
          </a:p>
        </p:txBody>
      </p:sp>
    </p:spTree>
    <p:extLst>
      <p:ext uri="{BB962C8B-B14F-4D97-AF65-F5344CB8AC3E}">
        <p14:creationId xmlns:p14="http://schemas.microsoft.com/office/powerpoint/2010/main" val="3308356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A3C"/>
        </a:solidFill>
        <a:effectLst/>
      </p:bgPr>
    </p:bg>
    <p:spTree>
      <p:nvGrpSpPr>
        <p:cNvPr id="1" name=""/>
        <p:cNvGrpSpPr/>
        <p:nvPr/>
      </p:nvGrpSpPr>
      <p:grpSpPr>
        <a:xfrm>
          <a:off x="0" y="0"/>
          <a:ext cx="0" cy="0"/>
          <a:chOff x="0" y="0"/>
          <a:chExt cx="0" cy="0"/>
        </a:xfrm>
      </p:grpSpPr>
      <p:sp>
        <p:nvSpPr>
          <p:cNvPr id="2" name="Shape 0"/>
          <p:cNvSpPr/>
          <p:nvPr/>
        </p:nvSpPr>
        <p:spPr>
          <a:xfrm>
            <a:off x="548640" y="548640"/>
            <a:ext cx="164592" cy="164592"/>
          </a:xfrm>
          <a:prstGeom prst="ellipse">
            <a:avLst/>
          </a:prstGeom>
          <a:solidFill>
            <a:srgbClr val="00A896"/>
          </a:solidFill>
          <a:ln w="12700">
            <a:solidFill>
              <a:srgbClr val="00A896"/>
            </a:solidFill>
            <a:prstDash val="solid"/>
          </a:ln>
        </p:spPr>
      </p:sp>
      <p:sp>
        <p:nvSpPr>
          <p:cNvPr id="3" name="Shape 1"/>
          <p:cNvSpPr/>
          <p:nvPr/>
        </p:nvSpPr>
        <p:spPr>
          <a:xfrm>
            <a:off x="777240" y="548640"/>
            <a:ext cx="164592" cy="164592"/>
          </a:xfrm>
          <a:prstGeom prst="ellipse">
            <a:avLst/>
          </a:prstGeom>
          <a:solidFill>
            <a:srgbClr val="F0A202"/>
          </a:solidFill>
          <a:ln w="12700">
            <a:solidFill>
              <a:srgbClr val="F0A202"/>
            </a:solidFill>
            <a:prstDash val="solid"/>
          </a:ln>
        </p:spPr>
      </p:sp>
      <p:sp>
        <p:nvSpPr>
          <p:cNvPr id="4" name="Shape 2"/>
          <p:cNvSpPr/>
          <p:nvPr/>
        </p:nvSpPr>
        <p:spPr>
          <a:xfrm>
            <a:off x="1005840" y="548640"/>
            <a:ext cx="164592" cy="164592"/>
          </a:xfrm>
          <a:prstGeom prst="ellipse">
            <a:avLst/>
          </a:prstGeom>
          <a:solidFill>
            <a:srgbClr val="FFFFFF"/>
          </a:solidFill>
          <a:ln w="12700">
            <a:solidFill>
              <a:srgbClr val="FFFFFF"/>
            </a:solidFill>
            <a:prstDash val="solid"/>
          </a:ln>
        </p:spPr>
      </p:sp>
      <p:sp>
        <p:nvSpPr>
          <p:cNvPr id="5" name="Text 3"/>
          <p:cNvSpPr/>
          <p:nvPr/>
        </p:nvSpPr>
        <p:spPr>
          <a:xfrm>
            <a:off x="548640" y="1097280"/>
            <a:ext cx="10972800" cy="365760"/>
          </a:xfrm>
          <a:prstGeom prst="rect">
            <a:avLst/>
          </a:prstGeom>
          <a:noFill/>
          <a:ln/>
        </p:spPr>
        <p:txBody>
          <a:bodyPr wrap="square" lIns="0" tIns="0" rIns="0" bIns="0" rtlCol="0" anchor="ctr"/>
          <a:lstStyle/>
          <a:p>
            <a:pPr marL="0" indent="0">
              <a:buNone/>
            </a:pPr>
            <a:r>
              <a:rPr lang="en-US" sz="1400" b="1" kern="0" spc="400" dirty="0">
                <a:solidFill>
                  <a:srgbClr val="00A896"/>
                </a:solidFill>
                <a:latin typeface="Calibri" pitchFamily="34" charset="0"/>
                <a:ea typeface="Calibri" pitchFamily="34" charset="-122"/>
                <a:cs typeface="Calibri" pitchFamily="34" charset="-120"/>
              </a:rPr>
              <a:t>CIS 468  /  Final Project</a:t>
            </a:r>
            <a:endParaRPr lang="en-US" sz="1400" dirty="0"/>
          </a:p>
        </p:txBody>
      </p:sp>
      <p:sp>
        <p:nvSpPr>
          <p:cNvPr id="6" name="Text 4"/>
          <p:cNvSpPr/>
          <p:nvPr/>
        </p:nvSpPr>
        <p:spPr>
          <a:xfrm>
            <a:off x="548640" y="1554480"/>
            <a:ext cx="11155680" cy="109728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Predicting Customer Campaign Response</a:t>
            </a:r>
            <a:endParaRPr lang="en-US" sz="4800" dirty="0"/>
          </a:p>
        </p:txBody>
      </p:sp>
      <p:sp>
        <p:nvSpPr>
          <p:cNvPr id="7" name="Text 5"/>
          <p:cNvSpPr/>
          <p:nvPr/>
        </p:nvSpPr>
        <p:spPr>
          <a:xfrm>
            <a:off x="548640" y="2743200"/>
            <a:ext cx="11155680" cy="548640"/>
          </a:xfrm>
          <a:prstGeom prst="rect">
            <a:avLst/>
          </a:prstGeom>
          <a:noFill/>
          <a:ln/>
        </p:spPr>
        <p:txBody>
          <a:bodyPr wrap="square" lIns="0" tIns="0" rIns="0" bIns="0" rtlCol="0" anchor="ctr"/>
          <a:lstStyle/>
          <a:p>
            <a:pPr marL="0" indent="0">
              <a:buNone/>
            </a:pPr>
            <a:r>
              <a:rPr lang="en-US" sz="2000" i="1" dirty="0">
                <a:solidFill>
                  <a:srgbClr val="CADCFC"/>
                </a:solidFill>
                <a:latin typeface="Calibri" pitchFamily="34" charset="0"/>
                <a:ea typeface="Calibri" pitchFamily="34" charset="-122"/>
                <a:cs typeface="Calibri" pitchFamily="34" charset="-120"/>
              </a:rPr>
              <a:t>Clustering and classification on the Customer Personality Analysis dataset</a:t>
            </a:r>
            <a:endParaRPr lang="en-US" sz="2000" dirty="0"/>
          </a:p>
        </p:txBody>
      </p:sp>
      <p:sp>
        <p:nvSpPr>
          <p:cNvPr id="8" name="Shape 6"/>
          <p:cNvSpPr/>
          <p:nvPr/>
        </p:nvSpPr>
        <p:spPr>
          <a:xfrm>
            <a:off x="548640" y="4023360"/>
            <a:ext cx="2377440" cy="1280160"/>
          </a:xfrm>
          <a:prstGeom prst="rect">
            <a:avLst/>
          </a:prstGeom>
          <a:solidFill>
            <a:srgbClr val="FFFFFF">
              <a:alpha val="8000"/>
            </a:srgbClr>
          </a:solidFill>
          <a:ln w="12700">
            <a:solidFill>
              <a:srgbClr val="00A896"/>
            </a:solidFill>
            <a:prstDash val="solid"/>
          </a:ln>
        </p:spPr>
      </p:sp>
      <p:sp>
        <p:nvSpPr>
          <p:cNvPr id="9" name="Text 7"/>
          <p:cNvSpPr/>
          <p:nvPr/>
        </p:nvSpPr>
        <p:spPr>
          <a:xfrm>
            <a:off x="548640" y="4114800"/>
            <a:ext cx="237744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2,240</a:t>
            </a:r>
            <a:endParaRPr lang="en-US" sz="3600" dirty="0"/>
          </a:p>
        </p:txBody>
      </p:sp>
      <p:sp>
        <p:nvSpPr>
          <p:cNvPr id="10" name="Text 8"/>
          <p:cNvSpPr/>
          <p:nvPr/>
        </p:nvSpPr>
        <p:spPr>
          <a:xfrm>
            <a:off x="548640" y="4754880"/>
            <a:ext cx="2377440" cy="365760"/>
          </a:xfrm>
          <a:prstGeom prst="rect">
            <a:avLst/>
          </a:prstGeom>
          <a:noFill/>
          <a:ln/>
        </p:spPr>
        <p:txBody>
          <a:bodyPr wrap="square" lIns="0" tIns="0" rIns="0" bIns="0" rtlCol="0" anchor="ctr"/>
          <a:lstStyle/>
          <a:p>
            <a:pPr marL="0" indent="0" algn="ctr">
              <a:buNone/>
            </a:pPr>
            <a:r>
              <a:rPr lang="en-US" sz="1200" kern="0" spc="200" dirty="0">
                <a:solidFill>
                  <a:srgbClr val="00A896"/>
                </a:solidFill>
                <a:latin typeface="Calibri" pitchFamily="34" charset="0"/>
                <a:ea typeface="Calibri" pitchFamily="34" charset="-122"/>
                <a:cs typeface="Calibri" pitchFamily="34" charset="-120"/>
              </a:rPr>
              <a:t>Customers</a:t>
            </a:r>
            <a:endParaRPr lang="en-US" sz="1200" dirty="0"/>
          </a:p>
        </p:txBody>
      </p:sp>
      <p:sp>
        <p:nvSpPr>
          <p:cNvPr id="11" name="Shape 9"/>
          <p:cNvSpPr/>
          <p:nvPr/>
        </p:nvSpPr>
        <p:spPr>
          <a:xfrm>
            <a:off x="3154680" y="4023360"/>
            <a:ext cx="2377440" cy="1280160"/>
          </a:xfrm>
          <a:prstGeom prst="rect">
            <a:avLst/>
          </a:prstGeom>
          <a:solidFill>
            <a:srgbClr val="FFFFFF">
              <a:alpha val="8000"/>
            </a:srgbClr>
          </a:solidFill>
          <a:ln w="12700">
            <a:solidFill>
              <a:srgbClr val="00A896"/>
            </a:solidFill>
            <a:prstDash val="solid"/>
          </a:ln>
        </p:spPr>
      </p:sp>
      <p:sp>
        <p:nvSpPr>
          <p:cNvPr id="12" name="Text 10"/>
          <p:cNvSpPr/>
          <p:nvPr/>
        </p:nvSpPr>
        <p:spPr>
          <a:xfrm>
            <a:off x="3154680" y="4114800"/>
            <a:ext cx="237744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29</a:t>
            </a:r>
            <a:endParaRPr lang="en-US" sz="3600" dirty="0"/>
          </a:p>
        </p:txBody>
      </p:sp>
      <p:sp>
        <p:nvSpPr>
          <p:cNvPr id="13" name="Text 11"/>
          <p:cNvSpPr/>
          <p:nvPr/>
        </p:nvSpPr>
        <p:spPr>
          <a:xfrm>
            <a:off x="3154680" y="4754880"/>
            <a:ext cx="2377440" cy="365760"/>
          </a:xfrm>
          <a:prstGeom prst="rect">
            <a:avLst/>
          </a:prstGeom>
          <a:noFill/>
          <a:ln/>
        </p:spPr>
        <p:txBody>
          <a:bodyPr wrap="square" lIns="0" tIns="0" rIns="0" bIns="0" rtlCol="0" anchor="ctr"/>
          <a:lstStyle/>
          <a:p>
            <a:pPr marL="0" indent="0" algn="ctr">
              <a:buNone/>
            </a:pPr>
            <a:r>
              <a:rPr lang="en-US" sz="1200" kern="0" spc="200" dirty="0">
                <a:solidFill>
                  <a:srgbClr val="00A896"/>
                </a:solidFill>
                <a:latin typeface="Calibri" pitchFamily="34" charset="0"/>
                <a:ea typeface="Calibri" pitchFamily="34" charset="-122"/>
                <a:cs typeface="Calibri" pitchFamily="34" charset="-120"/>
              </a:rPr>
              <a:t>Variables</a:t>
            </a:r>
            <a:endParaRPr lang="en-US" sz="1200" dirty="0"/>
          </a:p>
        </p:txBody>
      </p:sp>
      <p:sp>
        <p:nvSpPr>
          <p:cNvPr id="14" name="Shape 12"/>
          <p:cNvSpPr/>
          <p:nvPr/>
        </p:nvSpPr>
        <p:spPr>
          <a:xfrm>
            <a:off x="5760720" y="4023360"/>
            <a:ext cx="2377440" cy="1280160"/>
          </a:xfrm>
          <a:prstGeom prst="rect">
            <a:avLst/>
          </a:prstGeom>
          <a:solidFill>
            <a:srgbClr val="FFFFFF">
              <a:alpha val="8000"/>
            </a:srgbClr>
          </a:solidFill>
          <a:ln w="12700">
            <a:solidFill>
              <a:srgbClr val="00A896"/>
            </a:solidFill>
            <a:prstDash val="solid"/>
          </a:ln>
        </p:spPr>
      </p:sp>
      <p:sp>
        <p:nvSpPr>
          <p:cNvPr id="15" name="Text 13"/>
          <p:cNvSpPr/>
          <p:nvPr/>
        </p:nvSpPr>
        <p:spPr>
          <a:xfrm>
            <a:off x="5760720" y="4114800"/>
            <a:ext cx="237744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4</a:t>
            </a:r>
            <a:endParaRPr lang="en-US" sz="3600" dirty="0"/>
          </a:p>
        </p:txBody>
      </p:sp>
      <p:sp>
        <p:nvSpPr>
          <p:cNvPr id="16" name="Text 14"/>
          <p:cNvSpPr/>
          <p:nvPr/>
        </p:nvSpPr>
        <p:spPr>
          <a:xfrm>
            <a:off x="5760720" y="4754880"/>
            <a:ext cx="2377440" cy="365760"/>
          </a:xfrm>
          <a:prstGeom prst="rect">
            <a:avLst/>
          </a:prstGeom>
          <a:noFill/>
          <a:ln/>
        </p:spPr>
        <p:txBody>
          <a:bodyPr wrap="square" lIns="0" tIns="0" rIns="0" bIns="0" rtlCol="0" anchor="ctr"/>
          <a:lstStyle/>
          <a:p>
            <a:pPr marL="0" indent="0" algn="ctr">
              <a:buNone/>
            </a:pPr>
            <a:r>
              <a:rPr lang="en-US" sz="1200" kern="0" spc="200" dirty="0">
                <a:solidFill>
                  <a:srgbClr val="00A896"/>
                </a:solidFill>
                <a:latin typeface="Calibri" pitchFamily="34" charset="0"/>
                <a:ea typeface="Calibri" pitchFamily="34" charset="-122"/>
                <a:cs typeface="Calibri" pitchFamily="34" charset="-120"/>
              </a:rPr>
              <a:t>Clusters (K)</a:t>
            </a:r>
            <a:endParaRPr lang="en-US" sz="1200" dirty="0"/>
          </a:p>
        </p:txBody>
      </p:sp>
      <p:sp>
        <p:nvSpPr>
          <p:cNvPr id="17" name="Shape 15"/>
          <p:cNvSpPr/>
          <p:nvPr/>
        </p:nvSpPr>
        <p:spPr>
          <a:xfrm>
            <a:off x="8366760" y="4023360"/>
            <a:ext cx="2377440" cy="1280160"/>
          </a:xfrm>
          <a:prstGeom prst="rect">
            <a:avLst/>
          </a:prstGeom>
          <a:solidFill>
            <a:srgbClr val="FFFFFF">
              <a:alpha val="8000"/>
            </a:srgbClr>
          </a:solidFill>
          <a:ln w="12700">
            <a:solidFill>
              <a:srgbClr val="00A896"/>
            </a:solidFill>
            <a:prstDash val="solid"/>
          </a:ln>
        </p:spPr>
      </p:sp>
      <p:sp>
        <p:nvSpPr>
          <p:cNvPr id="18" name="Text 16"/>
          <p:cNvSpPr/>
          <p:nvPr/>
        </p:nvSpPr>
        <p:spPr>
          <a:xfrm>
            <a:off x="8366760" y="4114800"/>
            <a:ext cx="237744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3</a:t>
            </a:r>
            <a:endParaRPr lang="en-US" sz="3600" dirty="0"/>
          </a:p>
        </p:txBody>
      </p:sp>
      <p:sp>
        <p:nvSpPr>
          <p:cNvPr id="19" name="Text 17"/>
          <p:cNvSpPr/>
          <p:nvPr/>
        </p:nvSpPr>
        <p:spPr>
          <a:xfrm>
            <a:off x="8366760" y="4754880"/>
            <a:ext cx="2377440" cy="365760"/>
          </a:xfrm>
          <a:prstGeom prst="rect">
            <a:avLst/>
          </a:prstGeom>
          <a:noFill/>
          <a:ln/>
        </p:spPr>
        <p:txBody>
          <a:bodyPr wrap="square" lIns="0" tIns="0" rIns="0" bIns="0" rtlCol="0" anchor="ctr"/>
          <a:lstStyle/>
          <a:p>
            <a:pPr marL="0" indent="0" algn="ctr">
              <a:buNone/>
            </a:pPr>
            <a:r>
              <a:rPr lang="en-US" sz="1200" kern="0" spc="200" dirty="0">
                <a:solidFill>
                  <a:srgbClr val="00A896"/>
                </a:solidFill>
                <a:latin typeface="Calibri" pitchFamily="34" charset="0"/>
                <a:ea typeface="Calibri" pitchFamily="34" charset="-122"/>
                <a:cs typeface="Calibri" pitchFamily="34" charset="-120"/>
              </a:rPr>
              <a:t>Classifiers</a:t>
            </a:r>
            <a:endParaRPr lang="en-US" sz="1200" dirty="0"/>
          </a:p>
        </p:txBody>
      </p:sp>
      <p:sp>
        <p:nvSpPr>
          <p:cNvPr id="20" name="Text 18"/>
          <p:cNvSpPr/>
          <p:nvPr/>
        </p:nvSpPr>
        <p:spPr>
          <a:xfrm>
            <a:off x="548640" y="6126480"/>
            <a:ext cx="11155680" cy="36576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Towson University   /   Dr. McGuire   /   Spring 2026</a:t>
            </a:r>
            <a:endParaRPr lang="en-US" sz="1200" dirty="0"/>
          </a:p>
        </p:txBody>
      </p:sp>
      <p:sp>
        <p:nvSpPr>
          <p:cNvPr id="21" name="Text 19"/>
          <p:cNvSpPr/>
          <p:nvPr/>
        </p:nvSpPr>
        <p:spPr>
          <a:xfrm>
            <a:off x="548640" y="6400800"/>
            <a:ext cx="11155680" cy="274320"/>
          </a:xfrm>
          <a:prstGeom prst="rect">
            <a:avLst/>
          </a:prstGeom>
          <a:noFill/>
          <a:ln/>
        </p:spPr>
        <p:txBody>
          <a:bodyPr wrap="square" lIns="0" tIns="0" rIns="0" bIns="0" rtlCol="0" anchor="ctr"/>
          <a:lstStyle/>
          <a:p>
            <a:pPr marL="0" indent="0">
              <a:buNone/>
            </a:pPr>
            <a:r>
              <a:rPr lang="en-US" sz="1100" i="1" dirty="0">
                <a:solidFill>
                  <a:srgbClr val="8FAEBA"/>
                </a:solidFill>
                <a:latin typeface="Calibri" pitchFamily="34" charset="0"/>
                <a:ea typeface="Calibri" pitchFamily="34" charset="-122"/>
                <a:cs typeface="Calibri" pitchFamily="34" charset="-120"/>
              </a:rPr>
              <a:t>Team: Sofia Foutzitzi  /  Niranjan K C  /  Jivitesh Marken  /  Oluwadamilola Bright-Awonuga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155680" cy="274320"/>
          </a:xfrm>
          <a:prstGeom prst="rect">
            <a:avLst/>
          </a:prstGeom>
          <a:noFill/>
          <a:ln/>
        </p:spPr>
        <p:txBody>
          <a:bodyPr wrap="square" lIns="0" tIns="0" rIns="0" bIns="0" rtlCol="0" anchor="ctr"/>
          <a:lstStyle/>
          <a:p>
            <a:pPr marL="0" indent="0">
              <a:buNone/>
            </a:pPr>
            <a:r>
              <a:rPr lang="en-US" sz="1200" b="1" kern="0" spc="400" dirty="0">
                <a:solidFill>
                  <a:srgbClr val="028090"/>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40080"/>
            <a:ext cx="11155680" cy="64008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The Business Problem</a:t>
            </a:r>
            <a:endParaRPr lang="en-US" sz="3200" dirty="0"/>
          </a:p>
        </p:txBody>
      </p:sp>
      <p:sp>
        <p:nvSpPr>
          <p:cNvPr id="4" name="Text 2"/>
          <p:cNvSpPr/>
          <p:nvPr/>
        </p:nvSpPr>
        <p:spPr>
          <a:xfrm>
            <a:off x="548640" y="1554480"/>
            <a:ext cx="5943600" cy="548640"/>
          </a:xfrm>
          <a:prstGeom prst="rect">
            <a:avLst/>
          </a:prstGeom>
          <a:noFill/>
          <a:ln/>
        </p:spPr>
        <p:txBody>
          <a:bodyPr wrap="square" lIns="0" tIns="0" rIns="0" bIns="0" rtlCol="0" anchor="ctr"/>
          <a:lstStyle/>
          <a:p>
            <a:pPr marL="0" indent="0">
              <a:buNone/>
            </a:pPr>
            <a:r>
              <a:rPr lang="en-US" sz="2200" b="1" dirty="0">
                <a:solidFill>
                  <a:srgbClr val="1F2937"/>
                </a:solidFill>
                <a:latin typeface="Calibri" pitchFamily="34" charset="0"/>
                <a:ea typeface="Calibri" pitchFamily="34" charset="-122"/>
                <a:cs typeface="Calibri" pitchFamily="34" charset="-120"/>
              </a:rPr>
              <a:t>Marketing campaigns are expensive, and most of them fail.</a:t>
            </a:r>
            <a:endParaRPr lang="en-US" sz="2200" dirty="0"/>
          </a:p>
        </p:txBody>
      </p:sp>
      <p:sp>
        <p:nvSpPr>
          <p:cNvPr id="5" name="Text 3"/>
          <p:cNvSpPr/>
          <p:nvPr/>
        </p:nvSpPr>
        <p:spPr>
          <a:xfrm>
            <a:off x="548640" y="2194560"/>
            <a:ext cx="6126480" cy="731520"/>
          </a:xfrm>
          <a:prstGeom prst="rect">
            <a:avLst/>
          </a:prstGeom>
          <a:noFill/>
          <a:ln/>
        </p:spPr>
        <p:txBody>
          <a:bodyPr wrap="square" lIns="0" tIns="0" rIns="0" bIns="0" rtlCol="0" anchor="t"/>
          <a:lstStyle/>
          <a:p>
            <a:pPr marL="0" indent="0">
              <a:buNone/>
            </a:pPr>
            <a:r>
              <a:rPr lang="en-US" sz="1600" dirty="0">
                <a:solidFill>
                  <a:srgbClr val="1F2937"/>
                </a:solidFill>
              </a:rPr>
              <a:t>In our dataset, only </a:t>
            </a:r>
            <a:r>
              <a:rPr lang="en-US" sz="1600" b="1" dirty="0">
                <a:solidFill>
                  <a:srgbClr val="028090"/>
                </a:solidFill>
              </a:rPr>
              <a:t>14.9%</a:t>
            </a:r>
            <a:r>
              <a:rPr lang="en-US" sz="1600" dirty="0">
                <a:solidFill>
                  <a:srgbClr val="1F2937"/>
                </a:solidFill>
              </a:rPr>
              <a:t> of customers accepted the campaign. If a business could predict who is likely to respond, it could:</a:t>
            </a:r>
            <a:endParaRPr lang="en-US" sz="1600" dirty="0"/>
          </a:p>
        </p:txBody>
      </p:sp>
      <p:sp>
        <p:nvSpPr>
          <p:cNvPr id="6" name="Text 4"/>
          <p:cNvSpPr/>
          <p:nvPr/>
        </p:nvSpPr>
        <p:spPr>
          <a:xfrm>
            <a:off x="640080" y="2971800"/>
            <a:ext cx="585216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937"/>
                </a:solidFill>
              </a:rPr>
              <a:t>Target the right people instead of everyone</a:t>
            </a:r>
            <a:endParaRPr lang="en-US" sz="1400" dirty="0"/>
          </a:p>
          <a:p>
            <a:pPr marL="342900" indent="-342900">
              <a:spcAft>
                <a:spcPts val="800"/>
              </a:spcAft>
              <a:buSzPct val="100000"/>
              <a:buChar char="▸"/>
            </a:pPr>
            <a:r>
              <a:rPr lang="en-US" sz="1400" dirty="0">
                <a:solidFill>
                  <a:srgbClr val="1F2937"/>
                </a:solidFill>
              </a:rPr>
              <a:t>Lower acquisition cost per converted customer</a:t>
            </a:r>
            <a:endParaRPr lang="en-US" sz="1400" dirty="0"/>
          </a:p>
          <a:p>
            <a:pPr marL="342900" indent="-342900">
              <a:spcAft>
                <a:spcPts val="800"/>
              </a:spcAft>
              <a:buSzPct val="100000"/>
              <a:buChar char="▸"/>
            </a:pPr>
            <a:r>
              <a:rPr lang="en-US" sz="1400" dirty="0">
                <a:solidFill>
                  <a:srgbClr val="1F2937"/>
                </a:solidFill>
              </a:rPr>
              <a:t>Build segments for personalized offers</a:t>
            </a:r>
            <a:endParaRPr lang="en-US" sz="1400" dirty="0"/>
          </a:p>
          <a:p>
            <a:pPr marL="342900" indent="-342900">
              <a:buSzPct val="100000"/>
              <a:buChar char="▸"/>
            </a:pPr>
            <a:r>
              <a:rPr lang="en-US" sz="1400" dirty="0">
                <a:solidFill>
                  <a:srgbClr val="1F2937"/>
                </a:solidFill>
              </a:rPr>
              <a:t>Decide what to push to whom (wine vs. meat, web vs. catalog)</a:t>
            </a:r>
            <a:endParaRPr lang="en-US" sz="1400" dirty="0"/>
          </a:p>
        </p:txBody>
      </p:sp>
      <p:sp>
        <p:nvSpPr>
          <p:cNvPr id="7" name="Shape 5"/>
          <p:cNvSpPr/>
          <p:nvPr/>
        </p:nvSpPr>
        <p:spPr>
          <a:xfrm>
            <a:off x="6949440" y="1554480"/>
            <a:ext cx="4846320" cy="4572000"/>
          </a:xfrm>
          <a:prstGeom prst="rect">
            <a:avLst/>
          </a:prstGeom>
          <a:solidFill>
            <a:srgbClr val="F1FAF9"/>
          </a:solidFill>
          <a:ln w="12700">
            <a:solidFill>
              <a:srgbClr val="028090"/>
            </a:solidFill>
            <a:prstDash val="solid"/>
          </a:ln>
          <a:effectLst>
            <a:outerShdw blurRad="101600" dist="25400" dir="5400000" algn="bl" rotWithShape="0">
              <a:srgbClr val="000000">
                <a:alpha val="10000"/>
              </a:srgbClr>
            </a:outerShdw>
          </a:effectLst>
        </p:spPr>
      </p:sp>
      <p:sp>
        <p:nvSpPr>
          <p:cNvPr id="8" name="Shape 6"/>
          <p:cNvSpPr/>
          <p:nvPr/>
        </p:nvSpPr>
        <p:spPr>
          <a:xfrm>
            <a:off x="6949440" y="1554480"/>
            <a:ext cx="73152" cy="4572000"/>
          </a:xfrm>
          <a:prstGeom prst="rect">
            <a:avLst/>
          </a:prstGeom>
          <a:solidFill>
            <a:srgbClr val="028090"/>
          </a:solidFill>
          <a:ln w="12700">
            <a:solidFill>
              <a:srgbClr val="028090"/>
            </a:solidFill>
            <a:prstDash val="solid"/>
          </a:ln>
        </p:spPr>
      </p:sp>
      <p:sp>
        <p:nvSpPr>
          <p:cNvPr id="9" name="Text 7"/>
          <p:cNvSpPr/>
          <p:nvPr/>
        </p:nvSpPr>
        <p:spPr>
          <a:xfrm>
            <a:off x="7223760" y="1737360"/>
            <a:ext cx="4389120" cy="274320"/>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OUR RESEARCH QUESTIONS</a:t>
            </a:r>
            <a:endParaRPr lang="en-US" sz="1100" dirty="0"/>
          </a:p>
        </p:txBody>
      </p:sp>
      <p:sp>
        <p:nvSpPr>
          <p:cNvPr id="10" name="Text 8"/>
          <p:cNvSpPr/>
          <p:nvPr/>
        </p:nvSpPr>
        <p:spPr>
          <a:xfrm>
            <a:off x="7223760" y="2194560"/>
            <a:ext cx="4480560" cy="914400"/>
          </a:xfrm>
          <a:prstGeom prst="rect">
            <a:avLst/>
          </a:prstGeom>
          <a:noFill/>
          <a:ln/>
        </p:spPr>
        <p:txBody>
          <a:bodyPr wrap="square" lIns="0" tIns="0" rIns="0" bIns="0" rtlCol="0" anchor="ctr"/>
          <a:lstStyle/>
          <a:p>
            <a:pPr marL="0" indent="0">
              <a:buNone/>
            </a:pPr>
            <a:r>
              <a:rPr lang="en-US" sz="1400" dirty="0">
                <a:solidFill>
                  <a:srgbClr val="1F2937"/>
                </a:solidFill>
                <a:latin typeface="Calibri" pitchFamily="34" charset="0"/>
                <a:ea typeface="Calibri" pitchFamily="34" charset="-122"/>
                <a:cs typeface="Calibri" pitchFamily="34" charset="-120"/>
              </a:rPr>
              <a:t>1.  Can we group customers into meaningful segments based on income, spending, and behavior?</a:t>
            </a:r>
            <a:endParaRPr lang="en-US" sz="1400" dirty="0"/>
          </a:p>
        </p:txBody>
      </p:sp>
      <p:sp>
        <p:nvSpPr>
          <p:cNvPr id="11" name="Text 9"/>
          <p:cNvSpPr/>
          <p:nvPr/>
        </p:nvSpPr>
        <p:spPr>
          <a:xfrm>
            <a:off x="7223760" y="3200400"/>
            <a:ext cx="4480560" cy="822960"/>
          </a:xfrm>
          <a:prstGeom prst="rect">
            <a:avLst/>
          </a:prstGeom>
          <a:noFill/>
          <a:ln/>
        </p:spPr>
        <p:txBody>
          <a:bodyPr wrap="square" lIns="0" tIns="0" rIns="0" bIns="0" rtlCol="0" anchor="ctr"/>
          <a:lstStyle/>
          <a:p>
            <a:pPr marL="0" indent="0">
              <a:buNone/>
            </a:pPr>
            <a:r>
              <a:rPr lang="en-US" sz="1400" dirty="0">
                <a:solidFill>
                  <a:srgbClr val="1F2937"/>
                </a:solidFill>
                <a:latin typeface="Calibri" pitchFamily="34" charset="0"/>
                <a:ea typeface="Calibri" pitchFamily="34" charset="-122"/>
                <a:cs typeface="Calibri" pitchFamily="34" charset="-120"/>
              </a:rPr>
              <a:t>2.  Can we predict whether a customer will accept a marketing campaign?</a:t>
            </a:r>
            <a:endParaRPr lang="en-US" sz="1400" dirty="0"/>
          </a:p>
        </p:txBody>
      </p:sp>
      <p:sp>
        <p:nvSpPr>
          <p:cNvPr id="12" name="Text 10"/>
          <p:cNvSpPr/>
          <p:nvPr/>
        </p:nvSpPr>
        <p:spPr>
          <a:xfrm>
            <a:off x="7223760" y="4023360"/>
            <a:ext cx="4480560" cy="914400"/>
          </a:xfrm>
          <a:prstGeom prst="rect">
            <a:avLst/>
          </a:prstGeom>
          <a:noFill/>
          <a:ln/>
        </p:spPr>
        <p:txBody>
          <a:bodyPr wrap="square" lIns="0" tIns="0" rIns="0" bIns="0" rtlCol="0" anchor="ctr"/>
          <a:lstStyle/>
          <a:p>
            <a:pPr marL="0" indent="0">
              <a:buNone/>
            </a:pPr>
            <a:r>
              <a:rPr lang="en-US" sz="1400" dirty="0">
                <a:solidFill>
                  <a:srgbClr val="1F2937"/>
                </a:solidFill>
                <a:latin typeface="Calibri" pitchFamily="34" charset="0"/>
                <a:ea typeface="Calibri" pitchFamily="34" charset="-122"/>
                <a:cs typeface="Calibri" pitchFamily="34" charset="-120"/>
              </a:rPr>
              <a:t>3.  Which features matter most: income, recency, prior campaign acceptance, or product spending?</a:t>
            </a:r>
            <a:endParaRPr lang="en-US" sz="1400" dirty="0"/>
          </a:p>
        </p:txBody>
      </p:sp>
      <p:sp>
        <p:nvSpPr>
          <p:cNvPr id="13" name="Text 11"/>
          <p:cNvSpPr/>
          <p:nvPr/>
        </p:nvSpPr>
        <p:spPr>
          <a:xfrm>
            <a:off x="7223760" y="5029200"/>
            <a:ext cx="4480560" cy="822960"/>
          </a:xfrm>
          <a:prstGeom prst="rect">
            <a:avLst/>
          </a:prstGeom>
          <a:noFill/>
          <a:ln/>
        </p:spPr>
        <p:txBody>
          <a:bodyPr wrap="square" lIns="0" tIns="0" rIns="0" bIns="0" rtlCol="0" anchor="ctr"/>
          <a:lstStyle/>
          <a:p>
            <a:pPr marL="0" indent="0">
              <a:buNone/>
            </a:pPr>
            <a:r>
              <a:rPr lang="en-US" sz="1400" dirty="0">
                <a:solidFill>
                  <a:srgbClr val="1F2937"/>
                </a:solidFill>
                <a:latin typeface="Calibri" pitchFamily="34" charset="0"/>
                <a:ea typeface="Calibri" pitchFamily="34" charset="-122"/>
                <a:cs typeface="Calibri" pitchFamily="34" charset="-120"/>
              </a:rPr>
              <a:t>4.  Which algorithm handles a 15/85 class imbalance best?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155680" cy="274320"/>
          </a:xfrm>
          <a:prstGeom prst="rect">
            <a:avLst/>
          </a:prstGeom>
          <a:noFill/>
          <a:ln/>
        </p:spPr>
        <p:txBody>
          <a:bodyPr wrap="square" lIns="0" tIns="0" rIns="0" bIns="0" rtlCol="0" anchor="ctr"/>
          <a:lstStyle/>
          <a:p>
            <a:pPr marL="0" indent="0">
              <a:buNone/>
            </a:pPr>
            <a:r>
              <a:rPr lang="en-US" sz="1200" b="1" kern="0" spc="400" dirty="0">
                <a:solidFill>
                  <a:srgbClr val="028090"/>
                </a:solidFill>
                <a:latin typeface="Calibri" pitchFamily="34" charset="0"/>
                <a:ea typeface="Calibri" pitchFamily="34" charset="-122"/>
                <a:cs typeface="Calibri" pitchFamily="34" charset="-120"/>
              </a:rPr>
              <a:t>BACKGROUND</a:t>
            </a:r>
            <a:endParaRPr lang="en-US" sz="1200" dirty="0"/>
          </a:p>
        </p:txBody>
      </p:sp>
      <p:sp>
        <p:nvSpPr>
          <p:cNvPr id="3" name="Text 1"/>
          <p:cNvSpPr/>
          <p:nvPr/>
        </p:nvSpPr>
        <p:spPr>
          <a:xfrm>
            <a:off x="548640" y="640080"/>
            <a:ext cx="11155680" cy="64008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Meet the Dataset</a:t>
            </a:r>
            <a:endParaRPr lang="en-US" sz="3200" dirty="0"/>
          </a:p>
        </p:txBody>
      </p:sp>
      <p:sp>
        <p:nvSpPr>
          <p:cNvPr id="4" name="Text 2"/>
          <p:cNvSpPr/>
          <p:nvPr/>
        </p:nvSpPr>
        <p:spPr>
          <a:xfrm>
            <a:off x="548640" y="1371600"/>
            <a:ext cx="11155680" cy="365760"/>
          </a:xfrm>
          <a:prstGeom prst="rect">
            <a:avLst/>
          </a:prstGeom>
          <a:noFill/>
          <a:ln/>
        </p:spPr>
        <p:txBody>
          <a:bodyPr wrap="square" lIns="0" tIns="0" rIns="0" bIns="0" rtlCol="0" anchor="ctr"/>
          <a:lstStyle/>
          <a:p>
            <a:pPr marL="0" indent="0">
              <a:buNone/>
            </a:pPr>
            <a:r>
              <a:rPr lang="en-US" sz="1600" b="1" dirty="0">
                <a:solidFill>
                  <a:srgbClr val="1F2937"/>
                </a:solidFill>
              </a:rPr>
              <a:t>Customer Personality Analysis</a:t>
            </a:r>
            <a:r>
              <a:rPr lang="en-US" sz="1400" dirty="0">
                <a:solidFill>
                  <a:srgbClr val="6B7280"/>
                </a:solidFill>
              </a:rPr>
              <a:t>   /   Kaggle, 2,240 records, 29 variables</a:t>
            </a:r>
            <a:endParaRPr lang="en-US" sz="1600" dirty="0"/>
          </a:p>
        </p:txBody>
      </p:sp>
      <p:sp>
        <p:nvSpPr>
          <p:cNvPr id="5" name="Shape 3"/>
          <p:cNvSpPr/>
          <p:nvPr/>
        </p:nvSpPr>
        <p:spPr>
          <a:xfrm>
            <a:off x="548640" y="1920240"/>
            <a:ext cx="2651760" cy="338328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6" name="Shape 4"/>
          <p:cNvSpPr/>
          <p:nvPr/>
        </p:nvSpPr>
        <p:spPr>
          <a:xfrm>
            <a:off x="548640" y="1920240"/>
            <a:ext cx="2651760" cy="502920"/>
          </a:xfrm>
          <a:prstGeom prst="rect">
            <a:avLst/>
          </a:prstGeom>
          <a:solidFill>
            <a:srgbClr val="028090"/>
          </a:solidFill>
          <a:ln w="12700">
            <a:solidFill>
              <a:srgbClr val="028090"/>
            </a:solidFill>
            <a:prstDash val="solid"/>
          </a:ln>
        </p:spPr>
      </p:sp>
      <p:sp>
        <p:nvSpPr>
          <p:cNvPr id="7" name="Text 5"/>
          <p:cNvSpPr/>
          <p:nvPr/>
        </p:nvSpPr>
        <p:spPr>
          <a:xfrm>
            <a:off x="685800" y="1938528"/>
            <a:ext cx="2377440" cy="502920"/>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WHO THEY ARE</a:t>
            </a:r>
            <a:endParaRPr lang="en-US" sz="1200" dirty="0"/>
          </a:p>
        </p:txBody>
      </p:sp>
      <p:sp>
        <p:nvSpPr>
          <p:cNvPr id="8" name="Text 6"/>
          <p:cNvSpPr/>
          <p:nvPr/>
        </p:nvSpPr>
        <p:spPr>
          <a:xfrm>
            <a:off x="685800" y="2606040"/>
            <a:ext cx="2377440" cy="265176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1F2937"/>
                </a:solidFill>
              </a:rPr>
              <a:t>Year of birth</a:t>
            </a:r>
            <a:endParaRPr lang="en-US" sz="1300" dirty="0"/>
          </a:p>
          <a:p>
            <a:pPr marL="342900" indent="-342900">
              <a:spcAft>
                <a:spcPts val="400"/>
              </a:spcAft>
              <a:buSzPct val="100000"/>
              <a:buChar char="●"/>
            </a:pPr>
            <a:r>
              <a:rPr lang="en-US" sz="1300" dirty="0">
                <a:solidFill>
                  <a:srgbClr val="1F2937"/>
                </a:solidFill>
              </a:rPr>
              <a:t>Education</a:t>
            </a:r>
            <a:endParaRPr lang="en-US" sz="1300" dirty="0"/>
          </a:p>
          <a:p>
            <a:pPr marL="342900" indent="-342900">
              <a:spcAft>
                <a:spcPts val="400"/>
              </a:spcAft>
              <a:buSzPct val="100000"/>
              <a:buChar char="●"/>
            </a:pPr>
            <a:r>
              <a:rPr lang="en-US" sz="1300" dirty="0">
                <a:solidFill>
                  <a:srgbClr val="1F2937"/>
                </a:solidFill>
              </a:rPr>
              <a:t>Marital status</a:t>
            </a:r>
            <a:endParaRPr lang="en-US" sz="1300" dirty="0"/>
          </a:p>
          <a:p>
            <a:pPr marL="342900" indent="-342900">
              <a:spcAft>
                <a:spcPts val="400"/>
              </a:spcAft>
              <a:buSzPct val="100000"/>
              <a:buChar char="●"/>
            </a:pPr>
            <a:r>
              <a:rPr lang="en-US" sz="1300" dirty="0">
                <a:solidFill>
                  <a:srgbClr val="1F2937"/>
                </a:solidFill>
              </a:rPr>
              <a:t>Income</a:t>
            </a:r>
            <a:endParaRPr lang="en-US" sz="1300" dirty="0"/>
          </a:p>
          <a:p>
            <a:pPr marL="342900" indent="-342900">
              <a:spcAft>
                <a:spcPts val="400"/>
              </a:spcAft>
              <a:buSzPct val="100000"/>
              <a:buChar char="●"/>
            </a:pPr>
            <a:r>
              <a:rPr lang="en-US" sz="1300" dirty="0">
                <a:solidFill>
                  <a:srgbClr val="1F2937"/>
                </a:solidFill>
              </a:rPr>
              <a:t>Kids / teens at home</a:t>
            </a:r>
            <a:endParaRPr lang="en-US" sz="1300" dirty="0"/>
          </a:p>
        </p:txBody>
      </p:sp>
      <p:sp>
        <p:nvSpPr>
          <p:cNvPr id="9" name="Shape 7"/>
          <p:cNvSpPr/>
          <p:nvPr/>
        </p:nvSpPr>
        <p:spPr>
          <a:xfrm>
            <a:off x="3383280" y="1920240"/>
            <a:ext cx="2651760" cy="338328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10" name="Shape 8"/>
          <p:cNvSpPr/>
          <p:nvPr/>
        </p:nvSpPr>
        <p:spPr>
          <a:xfrm>
            <a:off x="3383280" y="1920240"/>
            <a:ext cx="2651760" cy="502920"/>
          </a:xfrm>
          <a:prstGeom prst="rect">
            <a:avLst/>
          </a:prstGeom>
          <a:solidFill>
            <a:srgbClr val="00A896"/>
          </a:solidFill>
          <a:ln w="12700">
            <a:solidFill>
              <a:srgbClr val="00A896"/>
            </a:solidFill>
            <a:prstDash val="solid"/>
          </a:ln>
        </p:spPr>
      </p:sp>
      <p:sp>
        <p:nvSpPr>
          <p:cNvPr id="11" name="Text 9"/>
          <p:cNvSpPr/>
          <p:nvPr/>
        </p:nvSpPr>
        <p:spPr>
          <a:xfrm>
            <a:off x="3520440" y="1938528"/>
            <a:ext cx="2377440" cy="502920"/>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WHAT THEY BUY</a:t>
            </a:r>
            <a:endParaRPr lang="en-US" sz="1200" dirty="0"/>
          </a:p>
        </p:txBody>
      </p:sp>
      <p:sp>
        <p:nvSpPr>
          <p:cNvPr id="12" name="Text 10"/>
          <p:cNvSpPr/>
          <p:nvPr/>
        </p:nvSpPr>
        <p:spPr>
          <a:xfrm>
            <a:off x="3520440" y="2606040"/>
            <a:ext cx="2377440" cy="265176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1F2937"/>
                </a:solidFill>
              </a:rPr>
              <a:t>Wines</a:t>
            </a:r>
            <a:endParaRPr lang="en-US" sz="1300" dirty="0"/>
          </a:p>
          <a:p>
            <a:pPr marL="342900" indent="-342900">
              <a:spcAft>
                <a:spcPts val="400"/>
              </a:spcAft>
              <a:buSzPct val="100000"/>
              <a:buChar char="●"/>
            </a:pPr>
            <a:r>
              <a:rPr lang="en-US" sz="1300" dirty="0">
                <a:solidFill>
                  <a:srgbClr val="1F2937"/>
                </a:solidFill>
              </a:rPr>
              <a:t>Meat products</a:t>
            </a:r>
            <a:endParaRPr lang="en-US" sz="1300" dirty="0"/>
          </a:p>
          <a:p>
            <a:pPr marL="342900" indent="-342900">
              <a:spcAft>
                <a:spcPts val="400"/>
              </a:spcAft>
              <a:buSzPct val="100000"/>
              <a:buChar char="●"/>
            </a:pPr>
            <a:r>
              <a:rPr lang="en-US" sz="1300" dirty="0">
                <a:solidFill>
                  <a:srgbClr val="1F2937"/>
                </a:solidFill>
              </a:rPr>
              <a:t>Fish, fruits, sweets</a:t>
            </a:r>
            <a:endParaRPr lang="en-US" sz="1300" dirty="0"/>
          </a:p>
          <a:p>
            <a:pPr marL="342900" indent="-342900">
              <a:spcAft>
                <a:spcPts val="400"/>
              </a:spcAft>
              <a:buSzPct val="100000"/>
              <a:buChar char="●"/>
            </a:pPr>
            <a:r>
              <a:rPr lang="en-US" sz="1300" dirty="0">
                <a:solidFill>
                  <a:srgbClr val="1F2937"/>
                </a:solidFill>
              </a:rPr>
              <a:t>Gold products</a:t>
            </a:r>
            <a:endParaRPr lang="en-US" sz="1300" dirty="0"/>
          </a:p>
          <a:p>
            <a:pPr marL="342900" indent="-342900">
              <a:spcAft>
                <a:spcPts val="400"/>
              </a:spcAft>
              <a:buSzPct val="100000"/>
              <a:buChar char="●"/>
            </a:pPr>
            <a:r>
              <a:rPr lang="en-US" sz="1300" dirty="0">
                <a:solidFill>
                  <a:srgbClr val="1F2937"/>
                </a:solidFill>
              </a:rPr>
              <a:t>(in $ over 2 years)</a:t>
            </a:r>
            <a:endParaRPr lang="en-US" sz="1300" dirty="0"/>
          </a:p>
        </p:txBody>
      </p:sp>
      <p:sp>
        <p:nvSpPr>
          <p:cNvPr id="13" name="Shape 11"/>
          <p:cNvSpPr/>
          <p:nvPr/>
        </p:nvSpPr>
        <p:spPr>
          <a:xfrm>
            <a:off x="6217920" y="1920240"/>
            <a:ext cx="2651760" cy="338328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14" name="Shape 12"/>
          <p:cNvSpPr/>
          <p:nvPr/>
        </p:nvSpPr>
        <p:spPr>
          <a:xfrm>
            <a:off x="6217920" y="1920240"/>
            <a:ext cx="2651760" cy="502920"/>
          </a:xfrm>
          <a:prstGeom prst="rect">
            <a:avLst/>
          </a:prstGeom>
          <a:solidFill>
            <a:srgbClr val="0891B2"/>
          </a:solidFill>
          <a:ln w="12700">
            <a:solidFill>
              <a:srgbClr val="0891B2"/>
            </a:solidFill>
            <a:prstDash val="solid"/>
          </a:ln>
        </p:spPr>
      </p:sp>
      <p:sp>
        <p:nvSpPr>
          <p:cNvPr id="15" name="Text 13"/>
          <p:cNvSpPr/>
          <p:nvPr/>
        </p:nvSpPr>
        <p:spPr>
          <a:xfrm>
            <a:off x="6355080" y="1938528"/>
            <a:ext cx="2377440" cy="502920"/>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HOW THEY BUY</a:t>
            </a:r>
            <a:endParaRPr lang="en-US" sz="1200" dirty="0"/>
          </a:p>
        </p:txBody>
      </p:sp>
      <p:sp>
        <p:nvSpPr>
          <p:cNvPr id="16" name="Text 14"/>
          <p:cNvSpPr/>
          <p:nvPr/>
        </p:nvSpPr>
        <p:spPr>
          <a:xfrm>
            <a:off x="6355080" y="2606040"/>
            <a:ext cx="2377440" cy="265176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1F2937"/>
                </a:solidFill>
              </a:rPr>
              <a:t>Web purchases</a:t>
            </a:r>
            <a:endParaRPr lang="en-US" sz="1300" dirty="0"/>
          </a:p>
          <a:p>
            <a:pPr marL="342900" indent="-342900">
              <a:spcAft>
                <a:spcPts val="400"/>
              </a:spcAft>
              <a:buSzPct val="100000"/>
              <a:buChar char="●"/>
            </a:pPr>
            <a:r>
              <a:rPr lang="en-US" sz="1300" dirty="0">
                <a:solidFill>
                  <a:srgbClr val="1F2937"/>
                </a:solidFill>
              </a:rPr>
              <a:t>Catalog purchases</a:t>
            </a:r>
            <a:endParaRPr lang="en-US" sz="1300" dirty="0"/>
          </a:p>
          <a:p>
            <a:pPr marL="342900" indent="-342900">
              <a:spcAft>
                <a:spcPts val="400"/>
              </a:spcAft>
              <a:buSzPct val="100000"/>
              <a:buChar char="●"/>
            </a:pPr>
            <a:r>
              <a:rPr lang="en-US" sz="1300" dirty="0">
                <a:solidFill>
                  <a:srgbClr val="1F2937"/>
                </a:solidFill>
              </a:rPr>
              <a:t>Store purchases</a:t>
            </a:r>
            <a:endParaRPr lang="en-US" sz="1300" dirty="0"/>
          </a:p>
          <a:p>
            <a:pPr marL="342900" indent="-342900">
              <a:spcAft>
                <a:spcPts val="400"/>
              </a:spcAft>
              <a:buSzPct val="100000"/>
              <a:buChar char="●"/>
            </a:pPr>
            <a:r>
              <a:rPr lang="en-US" sz="1300" dirty="0">
                <a:solidFill>
                  <a:srgbClr val="1F2937"/>
                </a:solidFill>
              </a:rPr>
              <a:t>Deal purchases</a:t>
            </a:r>
            <a:endParaRPr lang="en-US" sz="1300" dirty="0"/>
          </a:p>
          <a:p>
            <a:pPr marL="342900" indent="-342900">
              <a:spcAft>
                <a:spcPts val="400"/>
              </a:spcAft>
              <a:buSzPct val="100000"/>
              <a:buChar char="●"/>
            </a:pPr>
            <a:r>
              <a:rPr lang="en-US" sz="1300" dirty="0">
                <a:solidFill>
                  <a:srgbClr val="1F2937"/>
                </a:solidFill>
              </a:rPr>
              <a:t>Web visits per month</a:t>
            </a:r>
            <a:endParaRPr lang="en-US" sz="1300" dirty="0"/>
          </a:p>
        </p:txBody>
      </p:sp>
      <p:sp>
        <p:nvSpPr>
          <p:cNvPr id="17" name="Shape 15"/>
          <p:cNvSpPr/>
          <p:nvPr/>
        </p:nvSpPr>
        <p:spPr>
          <a:xfrm>
            <a:off x="9052560" y="1920240"/>
            <a:ext cx="2651760" cy="338328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18" name="Shape 16"/>
          <p:cNvSpPr/>
          <p:nvPr/>
        </p:nvSpPr>
        <p:spPr>
          <a:xfrm>
            <a:off x="9052560" y="1920240"/>
            <a:ext cx="2651760" cy="502920"/>
          </a:xfrm>
          <a:prstGeom prst="rect">
            <a:avLst/>
          </a:prstGeom>
          <a:solidFill>
            <a:srgbClr val="0E7C7B"/>
          </a:solidFill>
          <a:ln w="12700">
            <a:solidFill>
              <a:srgbClr val="0E7C7B"/>
            </a:solidFill>
            <a:prstDash val="solid"/>
          </a:ln>
        </p:spPr>
      </p:sp>
      <p:sp>
        <p:nvSpPr>
          <p:cNvPr id="19" name="Text 17"/>
          <p:cNvSpPr/>
          <p:nvPr/>
        </p:nvSpPr>
        <p:spPr>
          <a:xfrm>
            <a:off x="9189720" y="1938528"/>
            <a:ext cx="2377440" cy="502920"/>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CAMPAIGN HISTORY</a:t>
            </a:r>
            <a:endParaRPr lang="en-US" sz="1200" dirty="0"/>
          </a:p>
        </p:txBody>
      </p:sp>
      <p:sp>
        <p:nvSpPr>
          <p:cNvPr id="20" name="Text 18"/>
          <p:cNvSpPr/>
          <p:nvPr/>
        </p:nvSpPr>
        <p:spPr>
          <a:xfrm>
            <a:off x="9189720" y="2606040"/>
            <a:ext cx="2377440" cy="265176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1F2937"/>
                </a:solidFill>
              </a:rPr>
              <a:t>AcceptedCmp 1–5</a:t>
            </a:r>
            <a:endParaRPr lang="en-US" sz="1300" dirty="0"/>
          </a:p>
          <a:p>
            <a:pPr marL="342900" indent="-342900">
              <a:spcAft>
                <a:spcPts val="400"/>
              </a:spcAft>
              <a:buSzPct val="100000"/>
              <a:buChar char="●"/>
            </a:pPr>
            <a:r>
              <a:rPr lang="en-US" sz="1300" dirty="0">
                <a:solidFill>
                  <a:srgbClr val="1F2937"/>
                </a:solidFill>
              </a:rPr>
              <a:t>Recency (days)</a:t>
            </a:r>
            <a:endParaRPr lang="en-US" sz="1300" dirty="0"/>
          </a:p>
          <a:p>
            <a:pPr marL="342900" indent="-342900">
              <a:spcAft>
                <a:spcPts val="400"/>
              </a:spcAft>
              <a:buSzPct val="100000"/>
              <a:buChar char="●"/>
            </a:pPr>
            <a:r>
              <a:rPr lang="en-US" sz="1300" dirty="0">
                <a:solidFill>
                  <a:srgbClr val="1F2937"/>
                </a:solidFill>
              </a:rPr>
              <a:t>Complain flag</a:t>
            </a:r>
            <a:endParaRPr lang="en-US" sz="1300" dirty="0"/>
          </a:p>
          <a:p>
            <a:pPr marL="342900" indent="-342900">
              <a:spcAft>
                <a:spcPts val="400"/>
              </a:spcAft>
              <a:buSzPct val="100000"/>
              <a:buChar char="●"/>
            </a:pPr>
            <a:r>
              <a:rPr lang="en-US" sz="1300" dirty="0">
                <a:solidFill>
                  <a:srgbClr val="1F2937"/>
                </a:solidFill>
              </a:rPr>
              <a:t>Response (target)</a:t>
            </a:r>
            <a:endParaRPr lang="en-US" sz="1300" dirty="0"/>
          </a:p>
        </p:txBody>
      </p:sp>
      <p:sp>
        <p:nvSpPr>
          <p:cNvPr id="21" name="Shape 19"/>
          <p:cNvSpPr/>
          <p:nvPr/>
        </p:nvSpPr>
        <p:spPr>
          <a:xfrm>
            <a:off x="548640" y="5577840"/>
            <a:ext cx="11064240" cy="822960"/>
          </a:xfrm>
          <a:prstGeom prst="rect">
            <a:avLst/>
          </a:prstGeom>
          <a:solidFill>
            <a:srgbClr val="F1FAF9"/>
          </a:solidFill>
          <a:ln w="12700">
            <a:solidFill>
              <a:srgbClr val="E2E8F0"/>
            </a:solidFill>
            <a:prstDash val="solid"/>
          </a:ln>
        </p:spPr>
      </p:sp>
      <p:sp>
        <p:nvSpPr>
          <p:cNvPr id="22" name="Shape 20"/>
          <p:cNvSpPr/>
          <p:nvPr/>
        </p:nvSpPr>
        <p:spPr>
          <a:xfrm>
            <a:off x="548640" y="5577840"/>
            <a:ext cx="73152" cy="822960"/>
          </a:xfrm>
          <a:prstGeom prst="rect">
            <a:avLst/>
          </a:prstGeom>
          <a:solidFill>
            <a:srgbClr val="F0A202"/>
          </a:solidFill>
          <a:ln w="12700">
            <a:solidFill>
              <a:srgbClr val="F0A202"/>
            </a:solidFill>
            <a:prstDash val="solid"/>
          </a:ln>
        </p:spPr>
      </p:sp>
      <p:sp>
        <p:nvSpPr>
          <p:cNvPr id="23" name="Text 21"/>
          <p:cNvSpPr/>
          <p:nvPr/>
        </p:nvSpPr>
        <p:spPr>
          <a:xfrm>
            <a:off x="777240" y="5623560"/>
            <a:ext cx="10789920" cy="731520"/>
          </a:xfrm>
          <a:prstGeom prst="rect">
            <a:avLst/>
          </a:prstGeom>
          <a:noFill/>
          <a:ln/>
        </p:spPr>
        <p:txBody>
          <a:bodyPr wrap="square" lIns="0" tIns="0" rIns="0" bIns="0" rtlCol="0" anchor="ctr"/>
          <a:lstStyle/>
          <a:p>
            <a:pPr marL="0" indent="0">
              <a:buNone/>
            </a:pPr>
            <a:r>
              <a:rPr lang="en-US" sz="1100" b="1" kern="0" spc="300" dirty="0">
                <a:solidFill>
                  <a:srgbClr val="F0A202"/>
                </a:solidFill>
              </a:rPr>
              <a:t>TARGET VARIABLE   </a:t>
            </a:r>
            <a:r>
              <a:rPr lang="en-US" sz="1400" dirty="0">
                <a:solidFill>
                  <a:srgbClr val="1F2937"/>
                </a:solidFill>
              </a:rPr>
              <a:t>Response = 1 if the customer accepted the most recent campaign offer, 0 otherwise.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155680" cy="274320"/>
          </a:xfrm>
          <a:prstGeom prst="rect">
            <a:avLst/>
          </a:prstGeom>
          <a:noFill/>
          <a:ln/>
        </p:spPr>
        <p:txBody>
          <a:bodyPr wrap="square" lIns="0" tIns="0" rIns="0" bIns="0" rtlCol="0" anchor="ctr"/>
          <a:lstStyle/>
          <a:p>
            <a:pPr marL="0" indent="0">
              <a:buNone/>
            </a:pPr>
            <a:r>
              <a:rPr lang="en-US" sz="1200" b="1" kern="0" spc="400" dirty="0">
                <a:solidFill>
                  <a:srgbClr val="028090"/>
                </a:solidFill>
                <a:latin typeface="Calibri" pitchFamily="34" charset="0"/>
                <a:ea typeface="Calibri" pitchFamily="34" charset="-122"/>
                <a:cs typeface="Calibri" pitchFamily="34" charset="-120"/>
              </a:rPr>
              <a:t>EXPLORATORY ANALYSIS</a:t>
            </a:r>
            <a:endParaRPr lang="en-US" sz="1200" dirty="0"/>
          </a:p>
        </p:txBody>
      </p:sp>
      <p:sp>
        <p:nvSpPr>
          <p:cNvPr id="3" name="Text 1"/>
          <p:cNvSpPr/>
          <p:nvPr/>
        </p:nvSpPr>
        <p:spPr>
          <a:xfrm>
            <a:off x="548640" y="640080"/>
            <a:ext cx="11155680" cy="64008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What the Customers Look Like</a:t>
            </a:r>
            <a:endParaRPr lang="en-US" sz="3200" dirty="0"/>
          </a:p>
        </p:txBody>
      </p:sp>
      <p:pic>
        <p:nvPicPr>
          <p:cNvPr id="4" name="Image 0" descr="figures/image1.png"/>
          <p:cNvPicPr>
            <a:picLocks noChangeAspect="1"/>
          </p:cNvPicPr>
          <p:nvPr/>
        </p:nvPicPr>
        <p:blipFill>
          <a:blip r:embed="rId3"/>
          <a:stretch>
            <a:fillRect/>
          </a:stretch>
        </p:blipFill>
        <p:spPr>
          <a:xfrm>
            <a:off x="548640" y="1554480"/>
            <a:ext cx="3566160" cy="2011680"/>
          </a:xfrm>
          <a:prstGeom prst="rect">
            <a:avLst/>
          </a:prstGeom>
        </p:spPr>
      </p:pic>
      <p:sp>
        <p:nvSpPr>
          <p:cNvPr id="5" name="Text 2"/>
          <p:cNvSpPr/>
          <p:nvPr/>
        </p:nvSpPr>
        <p:spPr>
          <a:xfrm>
            <a:off x="548640" y="3657600"/>
            <a:ext cx="3566160" cy="822960"/>
          </a:xfrm>
          <a:prstGeom prst="rect">
            <a:avLst/>
          </a:prstGeom>
          <a:noFill/>
          <a:ln/>
        </p:spPr>
        <p:txBody>
          <a:bodyPr wrap="square" lIns="0" tIns="0" rIns="0" bIns="0" rtlCol="0" anchor="ctr"/>
          <a:lstStyle/>
          <a:p>
            <a:pPr marL="0" indent="0">
              <a:buNone/>
            </a:pPr>
            <a:r>
              <a:rPr lang="en-US" sz="1200" i="1" dirty="0">
                <a:solidFill>
                  <a:srgbClr val="1F2937"/>
                </a:solidFill>
                <a:latin typeface="Calibri" pitchFamily="34" charset="0"/>
                <a:ea typeface="Calibri" pitchFamily="34" charset="-122"/>
                <a:cs typeface="Calibri" pitchFamily="34" charset="-120"/>
              </a:rPr>
              <a:t>Most customers are 40–60. A few outliers from data-entry errors (max age 131).</a:t>
            </a:r>
            <a:endParaRPr lang="en-US" sz="1200" dirty="0"/>
          </a:p>
        </p:txBody>
      </p:sp>
      <p:pic>
        <p:nvPicPr>
          <p:cNvPr id="6" name="Image 1" descr="figures/image2.png"/>
          <p:cNvPicPr>
            <a:picLocks noChangeAspect="1"/>
          </p:cNvPicPr>
          <p:nvPr/>
        </p:nvPicPr>
        <p:blipFill>
          <a:blip r:embed="rId4"/>
          <a:stretch>
            <a:fillRect/>
          </a:stretch>
        </p:blipFill>
        <p:spPr>
          <a:xfrm>
            <a:off x="4389120" y="1554480"/>
            <a:ext cx="3566160" cy="2011680"/>
          </a:xfrm>
          <a:prstGeom prst="rect">
            <a:avLst/>
          </a:prstGeom>
        </p:spPr>
      </p:pic>
      <p:sp>
        <p:nvSpPr>
          <p:cNvPr id="7" name="Text 3"/>
          <p:cNvSpPr/>
          <p:nvPr/>
        </p:nvSpPr>
        <p:spPr>
          <a:xfrm>
            <a:off x="4389120" y="3657600"/>
            <a:ext cx="3566160" cy="822960"/>
          </a:xfrm>
          <a:prstGeom prst="rect">
            <a:avLst/>
          </a:prstGeom>
          <a:noFill/>
          <a:ln/>
        </p:spPr>
        <p:txBody>
          <a:bodyPr wrap="square" lIns="0" tIns="0" rIns="0" bIns="0" rtlCol="0" anchor="ctr"/>
          <a:lstStyle/>
          <a:p>
            <a:pPr marL="0" indent="0">
              <a:buNone/>
            </a:pPr>
            <a:r>
              <a:rPr lang="en-US" sz="1200" i="1" dirty="0">
                <a:solidFill>
                  <a:srgbClr val="1F2937"/>
                </a:solidFill>
                <a:latin typeface="Calibri" pitchFamily="34" charset="0"/>
                <a:ea typeface="Calibri" pitchFamily="34" charset="-122"/>
                <a:cs typeface="Calibri" pitchFamily="34" charset="-120"/>
              </a:rPr>
              <a:t>Income peaks around $50K–$60K, with one $666K outlier worth noting.</a:t>
            </a:r>
            <a:endParaRPr lang="en-US" sz="1200" dirty="0"/>
          </a:p>
        </p:txBody>
      </p:sp>
      <p:pic>
        <p:nvPicPr>
          <p:cNvPr id="8" name="Image 2" descr="figures/image4.png"/>
          <p:cNvPicPr>
            <a:picLocks noChangeAspect="1"/>
          </p:cNvPicPr>
          <p:nvPr/>
        </p:nvPicPr>
        <p:blipFill>
          <a:blip r:embed="rId5"/>
          <a:stretch>
            <a:fillRect/>
          </a:stretch>
        </p:blipFill>
        <p:spPr>
          <a:xfrm>
            <a:off x="8229600" y="1554480"/>
            <a:ext cx="3566160" cy="2011680"/>
          </a:xfrm>
          <a:prstGeom prst="rect">
            <a:avLst/>
          </a:prstGeom>
        </p:spPr>
      </p:pic>
      <p:sp>
        <p:nvSpPr>
          <p:cNvPr id="9" name="Text 4"/>
          <p:cNvSpPr/>
          <p:nvPr/>
        </p:nvSpPr>
        <p:spPr>
          <a:xfrm>
            <a:off x="8229600" y="3657600"/>
            <a:ext cx="3566160" cy="822960"/>
          </a:xfrm>
          <a:prstGeom prst="rect">
            <a:avLst/>
          </a:prstGeom>
          <a:noFill/>
          <a:ln/>
        </p:spPr>
        <p:txBody>
          <a:bodyPr wrap="square" lIns="0" tIns="0" rIns="0" bIns="0" rtlCol="0" anchor="ctr"/>
          <a:lstStyle/>
          <a:p>
            <a:pPr marL="0" indent="0">
              <a:buNone/>
            </a:pPr>
            <a:r>
              <a:rPr lang="en-US" sz="1200" i="1" dirty="0">
                <a:solidFill>
                  <a:srgbClr val="1F2937"/>
                </a:solidFill>
                <a:latin typeface="Calibri" pitchFamily="34" charset="0"/>
                <a:ea typeface="Calibri" pitchFamily="34" charset="-122"/>
                <a:cs typeface="Calibri" pitchFamily="34" charset="-120"/>
              </a:rPr>
              <a:t>Only 14.9% of customers responded. This class imbalance shapes everything later.</a:t>
            </a:r>
            <a:endParaRPr lang="en-US" sz="1200" dirty="0"/>
          </a:p>
        </p:txBody>
      </p:sp>
      <p:sp>
        <p:nvSpPr>
          <p:cNvPr id="10" name="Shape 5"/>
          <p:cNvSpPr/>
          <p:nvPr/>
        </p:nvSpPr>
        <p:spPr>
          <a:xfrm>
            <a:off x="548640" y="4846320"/>
            <a:ext cx="11064240" cy="1554480"/>
          </a:xfrm>
          <a:prstGeom prst="rect">
            <a:avLst/>
          </a:prstGeom>
          <a:solidFill>
            <a:srgbClr val="0B3A3C"/>
          </a:solidFill>
          <a:ln w="12700">
            <a:solidFill>
              <a:srgbClr val="0B3A3C"/>
            </a:solidFill>
            <a:prstDash val="solid"/>
          </a:ln>
        </p:spPr>
      </p:sp>
      <p:sp>
        <p:nvSpPr>
          <p:cNvPr id="11" name="Text 6"/>
          <p:cNvSpPr/>
          <p:nvPr/>
        </p:nvSpPr>
        <p:spPr>
          <a:xfrm>
            <a:off x="777240" y="4983480"/>
            <a:ext cx="4572000" cy="274320"/>
          </a:xfrm>
          <a:prstGeom prst="rect">
            <a:avLst/>
          </a:prstGeom>
          <a:noFill/>
          <a:ln/>
        </p:spPr>
        <p:txBody>
          <a:bodyPr wrap="square" lIns="0" tIns="0" rIns="0" bIns="0" rtlCol="0" anchor="ctr"/>
          <a:lstStyle/>
          <a:p>
            <a:pPr marL="0" indent="0">
              <a:buNone/>
            </a:pPr>
            <a:r>
              <a:rPr lang="en-US" sz="1100" b="1" kern="0" spc="300" dirty="0">
                <a:solidFill>
                  <a:srgbClr val="00A896"/>
                </a:solidFill>
                <a:latin typeface="Calibri" pitchFamily="34" charset="0"/>
                <a:ea typeface="Calibri" pitchFamily="34" charset="-122"/>
                <a:cs typeface="Calibri" pitchFamily="34" charset="-120"/>
              </a:rPr>
              <a:t>WHAT JUMPS OUT</a:t>
            </a:r>
            <a:endParaRPr lang="en-US" sz="1100" dirty="0"/>
          </a:p>
        </p:txBody>
      </p:sp>
      <p:sp>
        <p:nvSpPr>
          <p:cNvPr id="12" name="Text 7"/>
          <p:cNvSpPr/>
          <p:nvPr/>
        </p:nvSpPr>
        <p:spPr>
          <a:xfrm>
            <a:off x="777240" y="5303520"/>
            <a:ext cx="265176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14.9%</a:t>
            </a:r>
            <a:endParaRPr lang="en-US" sz="2800" dirty="0"/>
          </a:p>
        </p:txBody>
      </p:sp>
      <p:sp>
        <p:nvSpPr>
          <p:cNvPr id="13" name="Text 8"/>
          <p:cNvSpPr/>
          <p:nvPr/>
        </p:nvSpPr>
        <p:spPr>
          <a:xfrm>
            <a:off x="777240" y="5852160"/>
            <a:ext cx="2651760" cy="411480"/>
          </a:xfrm>
          <a:prstGeom prst="rect">
            <a:avLst/>
          </a:prstGeom>
          <a:noFill/>
          <a:ln/>
        </p:spPr>
        <p:txBody>
          <a:bodyPr wrap="square" lIns="0" tIns="0" rIns="0" bIns="0" rtlCol="0" anchor="ctr"/>
          <a:lstStyle/>
          <a:p>
            <a:pPr marL="0" indent="0">
              <a:buNone/>
            </a:pPr>
            <a:r>
              <a:rPr lang="en-US" sz="1100" dirty="0">
                <a:solidFill>
                  <a:srgbClr val="8FCBC9"/>
                </a:solidFill>
                <a:latin typeface="Calibri" pitchFamily="34" charset="0"/>
                <a:ea typeface="Calibri" pitchFamily="34" charset="-122"/>
                <a:cs typeface="Calibri" pitchFamily="34" charset="-120"/>
              </a:rPr>
              <a:t>campaign response rate</a:t>
            </a:r>
            <a:endParaRPr lang="en-US" sz="1100" dirty="0"/>
          </a:p>
        </p:txBody>
      </p:sp>
      <p:sp>
        <p:nvSpPr>
          <p:cNvPr id="14" name="Text 9"/>
          <p:cNvSpPr/>
          <p:nvPr/>
        </p:nvSpPr>
        <p:spPr>
          <a:xfrm>
            <a:off x="3520440" y="5303520"/>
            <a:ext cx="265176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$52K</a:t>
            </a:r>
            <a:endParaRPr lang="en-US" sz="2800" dirty="0"/>
          </a:p>
        </p:txBody>
      </p:sp>
      <p:sp>
        <p:nvSpPr>
          <p:cNvPr id="15" name="Text 10"/>
          <p:cNvSpPr/>
          <p:nvPr/>
        </p:nvSpPr>
        <p:spPr>
          <a:xfrm>
            <a:off x="3520440" y="5852160"/>
            <a:ext cx="2651760" cy="411480"/>
          </a:xfrm>
          <a:prstGeom prst="rect">
            <a:avLst/>
          </a:prstGeom>
          <a:noFill/>
          <a:ln/>
        </p:spPr>
        <p:txBody>
          <a:bodyPr wrap="square" lIns="0" tIns="0" rIns="0" bIns="0" rtlCol="0" anchor="ctr"/>
          <a:lstStyle/>
          <a:p>
            <a:pPr marL="0" indent="0">
              <a:buNone/>
            </a:pPr>
            <a:r>
              <a:rPr lang="en-US" sz="1100" dirty="0">
                <a:solidFill>
                  <a:srgbClr val="8FCBC9"/>
                </a:solidFill>
                <a:latin typeface="Calibri" pitchFamily="34" charset="0"/>
                <a:ea typeface="Calibri" pitchFamily="34" charset="-122"/>
                <a:cs typeface="Calibri" pitchFamily="34" charset="-120"/>
              </a:rPr>
              <a:t>median annual income</a:t>
            </a:r>
            <a:endParaRPr lang="en-US" sz="1100" dirty="0"/>
          </a:p>
        </p:txBody>
      </p:sp>
      <p:sp>
        <p:nvSpPr>
          <p:cNvPr id="16" name="Text 11"/>
          <p:cNvSpPr/>
          <p:nvPr/>
        </p:nvSpPr>
        <p:spPr>
          <a:xfrm>
            <a:off x="6263640" y="5303520"/>
            <a:ext cx="265176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~$606</a:t>
            </a:r>
            <a:endParaRPr lang="en-US" sz="2800" dirty="0"/>
          </a:p>
        </p:txBody>
      </p:sp>
      <p:sp>
        <p:nvSpPr>
          <p:cNvPr id="17" name="Text 12"/>
          <p:cNvSpPr/>
          <p:nvPr/>
        </p:nvSpPr>
        <p:spPr>
          <a:xfrm>
            <a:off x="6263640" y="5852160"/>
            <a:ext cx="2651760" cy="411480"/>
          </a:xfrm>
          <a:prstGeom prst="rect">
            <a:avLst/>
          </a:prstGeom>
          <a:noFill/>
          <a:ln/>
        </p:spPr>
        <p:txBody>
          <a:bodyPr wrap="square" lIns="0" tIns="0" rIns="0" bIns="0" rtlCol="0" anchor="ctr"/>
          <a:lstStyle/>
          <a:p>
            <a:pPr marL="0" indent="0">
              <a:buNone/>
            </a:pPr>
            <a:r>
              <a:rPr lang="en-US" sz="1100" dirty="0">
                <a:solidFill>
                  <a:srgbClr val="8FCBC9"/>
                </a:solidFill>
                <a:latin typeface="Calibri" pitchFamily="34" charset="0"/>
                <a:ea typeface="Calibri" pitchFamily="34" charset="-122"/>
                <a:cs typeface="Calibri" pitchFamily="34" charset="-120"/>
              </a:rPr>
              <a:t>median total spend over 2 yrs</a:t>
            </a:r>
            <a:endParaRPr lang="en-US" sz="1100" dirty="0"/>
          </a:p>
        </p:txBody>
      </p:sp>
      <p:sp>
        <p:nvSpPr>
          <p:cNvPr id="18" name="Text 13"/>
          <p:cNvSpPr/>
          <p:nvPr/>
        </p:nvSpPr>
        <p:spPr>
          <a:xfrm>
            <a:off x="9006840" y="5303520"/>
            <a:ext cx="265176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24</a:t>
            </a:r>
            <a:endParaRPr lang="en-US" sz="2800" dirty="0"/>
          </a:p>
        </p:txBody>
      </p:sp>
      <p:sp>
        <p:nvSpPr>
          <p:cNvPr id="19" name="Text 14"/>
          <p:cNvSpPr/>
          <p:nvPr/>
        </p:nvSpPr>
        <p:spPr>
          <a:xfrm>
            <a:off x="9006840" y="5852160"/>
            <a:ext cx="2651760" cy="411480"/>
          </a:xfrm>
          <a:prstGeom prst="rect">
            <a:avLst/>
          </a:prstGeom>
          <a:noFill/>
          <a:ln/>
        </p:spPr>
        <p:txBody>
          <a:bodyPr wrap="square" lIns="0" tIns="0" rIns="0" bIns="0" rtlCol="0" anchor="ctr"/>
          <a:lstStyle/>
          <a:p>
            <a:pPr marL="0" indent="0">
              <a:buNone/>
            </a:pPr>
            <a:r>
              <a:rPr lang="en-US" sz="1100" dirty="0">
                <a:solidFill>
                  <a:srgbClr val="8FCBC9"/>
                </a:solidFill>
                <a:latin typeface="Calibri" pitchFamily="34" charset="0"/>
                <a:ea typeface="Calibri" pitchFamily="34" charset="-122"/>
                <a:cs typeface="Calibri" pitchFamily="34" charset="-120"/>
              </a:rPr>
              <a:t>missing income values (median-imputed)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155680" cy="274320"/>
          </a:xfrm>
          <a:prstGeom prst="rect">
            <a:avLst/>
          </a:prstGeom>
          <a:noFill/>
          <a:ln/>
        </p:spPr>
        <p:txBody>
          <a:bodyPr wrap="square" lIns="0" tIns="0" rIns="0" bIns="0" rtlCol="0" anchor="ctr"/>
          <a:lstStyle/>
          <a:p>
            <a:pPr marL="0" indent="0">
              <a:buNone/>
            </a:pPr>
            <a:r>
              <a:rPr lang="en-US" sz="1200" b="1" kern="0" spc="400" dirty="0">
                <a:solidFill>
                  <a:srgbClr val="028090"/>
                </a:solidFill>
                <a:latin typeface="Calibri" pitchFamily="34" charset="0"/>
                <a:ea typeface="Calibri" pitchFamily="34" charset="-122"/>
                <a:cs typeface="Calibri" pitchFamily="34" charset="-120"/>
              </a:rPr>
              <a:t>EXPLORATORY ANALYSIS</a:t>
            </a:r>
            <a:endParaRPr lang="en-US" sz="1200" dirty="0"/>
          </a:p>
        </p:txBody>
      </p:sp>
      <p:sp>
        <p:nvSpPr>
          <p:cNvPr id="3" name="Text 1"/>
          <p:cNvSpPr/>
          <p:nvPr/>
        </p:nvSpPr>
        <p:spPr>
          <a:xfrm>
            <a:off x="548640" y="640080"/>
            <a:ext cx="11155680" cy="64008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The Strongest Signal We Found</a:t>
            </a:r>
            <a:endParaRPr lang="en-US" sz="3200" dirty="0"/>
          </a:p>
        </p:txBody>
      </p:sp>
      <p:pic>
        <p:nvPicPr>
          <p:cNvPr id="4" name="Image 0" descr="figures/image5.png"/>
          <p:cNvPicPr>
            <a:picLocks noChangeAspect="1"/>
          </p:cNvPicPr>
          <p:nvPr/>
        </p:nvPicPr>
        <p:blipFill>
          <a:blip r:embed="rId3"/>
          <a:stretch>
            <a:fillRect/>
          </a:stretch>
        </p:blipFill>
        <p:spPr>
          <a:xfrm>
            <a:off x="548640" y="1554480"/>
            <a:ext cx="6858000" cy="4114800"/>
          </a:xfrm>
          <a:prstGeom prst="rect">
            <a:avLst/>
          </a:prstGeom>
        </p:spPr>
      </p:pic>
      <p:sp>
        <p:nvSpPr>
          <p:cNvPr id="5" name="Shape 2"/>
          <p:cNvSpPr/>
          <p:nvPr/>
        </p:nvSpPr>
        <p:spPr>
          <a:xfrm>
            <a:off x="7680960" y="1554480"/>
            <a:ext cx="4114800" cy="4114800"/>
          </a:xfrm>
          <a:prstGeom prst="rect">
            <a:avLst/>
          </a:prstGeom>
          <a:solidFill>
            <a:srgbClr val="F1FAF9"/>
          </a:solidFill>
          <a:ln w="12700">
            <a:solidFill>
              <a:srgbClr val="E2E8F0"/>
            </a:solidFill>
            <a:prstDash val="solid"/>
          </a:ln>
        </p:spPr>
      </p:sp>
      <p:sp>
        <p:nvSpPr>
          <p:cNvPr id="6" name="Shape 3"/>
          <p:cNvSpPr/>
          <p:nvPr/>
        </p:nvSpPr>
        <p:spPr>
          <a:xfrm>
            <a:off x="7680960" y="1554480"/>
            <a:ext cx="73152" cy="4114800"/>
          </a:xfrm>
          <a:prstGeom prst="rect">
            <a:avLst/>
          </a:prstGeom>
          <a:solidFill>
            <a:srgbClr val="028090"/>
          </a:solidFill>
          <a:ln w="12700">
            <a:solidFill>
              <a:srgbClr val="028090"/>
            </a:solidFill>
            <a:prstDash val="solid"/>
          </a:ln>
        </p:spPr>
      </p:sp>
      <p:sp>
        <p:nvSpPr>
          <p:cNvPr id="7" name="Text 4"/>
          <p:cNvSpPr/>
          <p:nvPr/>
        </p:nvSpPr>
        <p:spPr>
          <a:xfrm>
            <a:off x="7909560" y="1783080"/>
            <a:ext cx="3840480" cy="365760"/>
          </a:xfrm>
          <a:prstGeom prst="rect">
            <a:avLst/>
          </a:prstGeom>
          <a:noFill/>
          <a:ln/>
        </p:spPr>
        <p:txBody>
          <a:bodyPr wrap="square" lIns="0" tIns="0" rIns="0" bIns="0"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RESPONDERS SPEND ~3x MORE</a:t>
            </a:r>
            <a:endParaRPr lang="en-US" sz="1200" dirty="0"/>
          </a:p>
        </p:txBody>
      </p:sp>
      <p:sp>
        <p:nvSpPr>
          <p:cNvPr id="8" name="Text 5"/>
          <p:cNvSpPr/>
          <p:nvPr/>
        </p:nvSpPr>
        <p:spPr>
          <a:xfrm>
            <a:off x="7909560" y="2194560"/>
            <a:ext cx="3840480" cy="822960"/>
          </a:xfrm>
          <a:prstGeom prst="rect">
            <a:avLst/>
          </a:prstGeom>
          <a:noFill/>
          <a:ln/>
        </p:spPr>
        <p:txBody>
          <a:bodyPr wrap="square" lIns="0" tIns="0" rIns="0" bIns="0" rtlCol="0" anchor="ctr"/>
          <a:lstStyle/>
          <a:p>
            <a:pPr marL="0" indent="0">
              <a:buNone/>
            </a:pPr>
            <a:r>
              <a:rPr lang="en-US" sz="5400" b="1" dirty="0">
                <a:solidFill>
                  <a:srgbClr val="1F2937"/>
                </a:solidFill>
                <a:latin typeface="Calibri" pitchFamily="34" charset="0"/>
                <a:ea typeface="Calibri" pitchFamily="34" charset="-122"/>
                <a:cs typeface="Calibri" pitchFamily="34" charset="-120"/>
              </a:rPr>
              <a:t>$1,050</a:t>
            </a:r>
            <a:endParaRPr lang="en-US" sz="5400" dirty="0"/>
          </a:p>
        </p:txBody>
      </p:sp>
      <p:sp>
        <p:nvSpPr>
          <p:cNvPr id="9" name="Text 6"/>
          <p:cNvSpPr/>
          <p:nvPr/>
        </p:nvSpPr>
        <p:spPr>
          <a:xfrm>
            <a:off x="7909560" y="3017520"/>
            <a:ext cx="384048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median spend for responders</a:t>
            </a:r>
            <a:endParaRPr lang="en-US" sz="1300" dirty="0"/>
          </a:p>
        </p:txBody>
      </p:sp>
      <p:sp>
        <p:nvSpPr>
          <p:cNvPr id="10" name="Shape 7"/>
          <p:cNvSpPr/>
          <p:nvPr/>
        </p:nvSpPr>
        <p:spPr>
          <a:xfrm>
            <a:off x="7909560" y="3520440"/>
            <a:ext cx="3200400" cy="0"/>
          </a:xfrm>
          <a:prstGeom prst="line">
            <a:avLst/>
          </a:prstGeom>
          <a:noFill/>
          <a:ln w="12700">
            <a:solidFill>
              <a:srgbClr val="E2E8F0"/>
            </a:solidFill>
            <a:prstDash val="solid"/>
          </a:ln>
        </p:spPr>
      </p:sp>
      <p:sp>
        <p:nvSpPr>
          <p:cNvPr id="11" name="Text 8"/>
          <p:cNvSpPr/>
          <p:nvPr/>
        </p:nvSpPr>
        <p:spPr>
          <a:xfrm>
            <a:off x="7909560" y="3657600"/>
            <a:ext cx="3840480" cy="640080"/>
          </a:xfrm>
          <a:prstGeom prst="rect">
            <a:avLst/>
          </a:prstGeom>
          <a:noFill/>
          <a:ln/>
        </p:spPr>
        <p:txBody>
          <a:bodyPr wrap="square" lIns="0" tIns="0" rIns="0" bIns="0" rtlCol="0" anchor="ctr"/>
          <a:lstStyle/>
          <a:p>
            <a:pPr marL="0" indent="0">
              <a:buNone/>
            </a:pPr>
            <a:r>
              <a:rPr lang="en-US" sz="3600" b="1" dirty="0">
                <a:solidFill>
                  <a:srgbClr val="6B7280"/>
                </a:solidFill>
                <a:latin typeface="Calibri" pitchFamily="34" charset="0"/>
                <a:ea typeface="Calibri" pitchFamily="34" charset="-122"/>
                <a:cs typeface="Calibri" pitchFamily="34" charset="-120"/>
              </a:rPr>
              <a:t>~$310</a:t>
            </a:r>
            <a:endParaRPr lang="en-US" sz="3600" dirty="0"/>
          </a:p>
        </p:txBody>
      </p:sp>
      <p:sp>
        <p:nvSpPr>
          <p:cNvPr id="12" name="Text 9"/>
          <p:cNvSpPr/>
          <p:nvPr/>
        </p:nvSpPr>
        <p:spPr>
          <a:xfrm>
            <a:off x="7909560" y="4297680"/>
            <a:ext cx="384048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median spend for non-responders</a:t>
            </a:r>
            <a:endParaRPr lang="en-US" sz="1300" dirty="0"/>
          </a:p>
        </p:txBody>
      </p:sp>
      <p:sp>
        <p:nvSpPr>
          <p:cNvPr id="13" name="Text 10"/>
          <p:cNvSpPr/>
          <p:nvPr/>
        </p:nvSpPr>
        <p:spPr>
          <a:xfrm>
            <a:off x="7909560" y="4937760"/>
            <a:ext cx="3840480" cy="640080"/>
          </a:xfrm>
          <a:prstGeom prst="rect">
            <a:avLst/>
          </a:prstGeom>
          <a:noFill/>
          <a:ln/>
        </p:spPr>
        <p:txBody>
          <a:bodyPr wrap="square" lIns="0" tIns="0" rIns="0" bIns="0" rtlCol="0" anchor="ctr"/>
          <a:lstStyle/>
          <a:p>
            <a:pPr marL="0" indent="0">
              <a:buNone/>
            </a:pPr>
            <a:r>
              <a:rPr lang="en-US" sz="1200" i="1" dirty="0">
                <a:solidFill>
                  <a:srgbClr val="1F2937"/>
                </a:solidFill>
                <a:latin typeface="Calibri" pitchFamily="34" charset="0"/>
                <a:ea typeface="Calibri" pitchFamily="34" charset="-122"/>
                <a:cs typeface="Calibri" pitchFamily="34" charset="-120"/>
              </a:rPr>
              <a:t>This told us TotalSpend would be a strong predictor, which the models later confirmed.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155680" cy="274320"/>
          </a:xfrm>
          <a:prstGeom prst="rect">
            <a:avLst/>
          </a:prstGeom>
          <a:noFill/>
          <a:ln/>
        </p:spPr>
        <p:txBody>
          <a:bodyPr wrap="square" lIns="0" tIns="0" rIns="0" bIns="0" rtlCol="0" anchor="ctr"/>
          <a:lstStyle/>
          <a:p>
            <a:pPr marL="0" indent="0">
              <a:buNone/>
            </a:pPr>
            <a:r>
              <a:rPr lang="en-US" sz="1200" b="1" kern="0" spc="400" dirty="0">
                <a:solidFill>
                  <a:srgbClr val="028090"/>
                </a:solidFill>
                <a:latin typeface="Calibri" pitchFamily="34" charset="0"/>
                <a:ea typeface="Calibri" pitchFamily="34" charset="-122"/>
                <a:cs typeface="Calibri" pitchFamily="34" charset="-120"/>
              </a:rPr>
              <a:t>EXPLORATORY ANALYSIS</a:t>
            </a:r>
            <a:endParaRPr lang="en-US" sz="1200" dirty="0"/>
          </a:p>
        </p:txBody>
      </p:sp>
      <p:sp>
        <p:nvSpPr>
          <p:cNvPr id="3" name="Text 1"/>
          <p:cNvSpPr/>
          <p:nvPr/>
        </p:nvSpPr>
        <p:spPr>
          <a:xfrm>
            <a:off x="548640" y="640080"/>
            <a:ext cx="11155680" cy="64008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What They Buy and What Goes Together</a:t>
            </a:r>
            <a:endParaRPr lang="en-US" sz="3200" dirty="0"/>
          </a:p>
        </p:txBody>
      </p:sp>
      <p:sp>
        <p:nvSpPr>
          <p:cNvPr id="4" name="Text 2"/>
          <p:cNvSpPr/>
          <p:nvPr/>
        </p:nvSpPr>
        <p:spPr>
          <a:xfrm>
            <a:off x="548640" y="1371600"/>
            <a:ext cx="5486400" cy="36576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Wines and meat dominate spending</a:t>
            </a:r>
            <a:endParaRPr lang="en-US" sz="1600" dirty="0"/>
          </a:p>
        </p:txBody>
      </p:sp>
      <p:pic>
        <p:nvPicPr>
          <p:cNvPr id="5" name="Image 0" descr="figures/image8.png"/>
          <p:cNvPicPr>
            <a:picLocks noChangeAspect="1"/>
          </p:cNvPicPr>
          <p:nvPr/>
        </p:nvPicPr>
        <p:blipFill>
          <a:blip r:embed="rId3"/>
          <a:stretch>
            <a:fillRect/>
          </a:stretch>
        </p:blipFill>
        <p:spPr>
          <a:xfrm>
            <a:off x="548640" y="1828800"/>
            <a:ext cx="5486400" cy="4114800"/>
          </a:xfrm>
          <a:prstGeom prst="rect">
            <a:avLst/>
          </a:prstGeom>
        </p:spPr>
      </p:pic>
      <p:sp>
        <p:nvSpPr>
          <p:cNvPr id="6" name="Text 3"/>
          <p:cNvSpPr/>
          <p:nvPr/>
        </p:nvSpPr>
        <p:spPr>
          <a:xfrm>
            <a:off x="6400800" y="1371600"/>
            <a:ext cx="5486400" cy="36576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Income tracks closely with all spending</a:t>
            </a:r>
            <a:endParaRPr lang="en-US" sz="1600" dirty="0"/>
          </a:p>
        </p:txBody>
      </p:sp>
      <p:pic>
        <p:nvPicPr>
          <p:cNvPr id="7" name="Image 1" descr="figures/image9.png"/>
          <p:cNvPicPr>
            <a:picLocks noChangeAspect="1"/>
          </p:cNvPicPr>
          <p:nvPr/>
        </p:nvPicPr>
        <p:blipFill>
          <a:blip r:embed="rId4"/>
          <a:stretch>
            <a:fillRect/>
          </a:stretch>
        </p:blipFill>
        <p:spPr>
          <a:xfrm>
            <a:off x="6400800" y="1828800"/>
            <a:ext cx="5486400" cy="4114800"/>
          </a:xfrm>
          <a:prstGeom prst="rect">
            <a:avLst/>
          </a:prstGeom>
        </p:spPr>
      </p:pic>
      <p:sp>
        <p:nvSpPr>
          <p:cNvPr id="8" name="Text 4"/>
          <p:cNvSpPr/>
          <p:nvPr/>
        </p:nvSpPr>
        <p:spPr>
          <a:xfrm>
            <a:off x="548640" y="6035040"/>
            <a:ext cx="11247120" cy="457200"/>
          </a:xfrm>
          <a:prstGeom prst="rect">
            <a:avLst/>
          </a:prstGeom>
          <a:noFill/>
          <a:ln/>
        </p:spPr>
        <p:txBody>
          <a:bodyPr wrap="square" lIns="0" tIns="0" rIns="0" bIns="0" rtlCol="0" anchor="ctr"/>
          <a:lstStyle/>
          <a:p>
            <a:pPr marL="0" indent="0" algn="ctr">
              <a:buNone/>
            </a:pPr>
            <a:r>
              <a:rPr lang="en-US" sz="1300" i="1" dirty="0">
                <a:solidFill>
                  <a:srgbClr val="6B7280"/>
                </a:solidFill>
                <a:latin typeface="Calibri" pitchFamily="34" charset="0"/>
                <a:ea typeface="Calibri" pitchFamily="34" charset="-122"/>
                <a:cs typeface="Calibri" pitchFamily="34" charset="-120"/>
              </a:rPr>
              <a:t>Higher income shows strong positive correlation with every product category, especially wines and meat.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155680" cy="274320"/>
          </a:xfrm>
          <a:prstGeom prst="rect">
            <a:avLst/>
          </a:prstGeom>
          <a:noFill/>
          <a:ln/>
        </p:spPr>
        <p:txBody>
          <a:bodyPr wrap="square" lIns="0" tIns="0" rIns="0" bIns="0" rtlCol="0" anchor="ctr"/>
          <a:lstStyle/>
          <a:p>
            <a:pPr marL="0" indent="0">
              <a:buNone/>
            </a:pPr>
            <a:r>
              <a:rPr lang="en-US" sz="1200" b="1" kern="0" spc="400" dirty="0">
                <a:solidFill>
                  <a:srgbClr val="028090"/>
                </a:solidFill>
                <a:latin typeface="Calibri" pitchFamily="34" charset="0"/>
                <a:ea typeface="Calibri" pitchFamily="34" charset="-122"/>
                <a:cs typeface="Calibri" pitchFamily="34" charset="-120"/>
              </a:rPr>
              <a:t>METHODS</a:t>
            </a:r>
            <a:endParaRPr lang="en-US" sz="1200" dirty="0"/>
          </a:p>
        </p:txBody>
      </p:sp>
      <p:sp>
        <p:nvSpPr>
          <p:cNvPr id="3" name="Text 1"/>
          <p:cNvSpPr/>
          <p:nvPr/>
        </p:nvSpPr>
        <p:spPr>
          <a:xfrm>
            <a:off x="548640" y="640080"/>
            <a:ext cx="11155680" cy="64008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Our Three-Step Approach</a:t>
            </a:r>
            <a:endParaRPr lang="en-US" sz="3200" dirty="0"/>
          </a:p>
        </p:txBody>
      </p:sp>
      <p:sp>
        <p:nvSpPr>
          <p:cNvPr id="4" name="Shape 2"/>
          <p:cNvSpPr/>
          <p:nvPr/>
        </p:nvSpPr>
        <p:spPr>
          <a:xfrm>
            <a:off x="548640" y="1554480"/>
            <a:ext cx="914400" cy="914400"/>
          </a:xfrm>
          <a:prstGeom prst="ellipse">
            <a:avLst/>
          </a:prstGeom>
          <a:solidFill>
            <a:srgbClr val="028090"/>
          </a:solidFill>
          <a:ln w="12700">
            <a:solidFill>
              <a:srgbClr val="028090"/>
            </a:solidFill>
            <a:prstDash val="solid"/>
          </a:ln>
        </p:spPr>
      </p:sp>
      <p:sp>
        <p:nvSpPr>
          <p:cNvPr id="5" name="Text 3"/>
          <p:cNvSpPr/>
          <p:nvPr/>
        </p:nvSpPr>
        <p:spPr>
          <a:xfrm>
            <a:off x="548640" y="1554480"/>
            <a:ext cx="914400" cy="9144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01</a:t>
            </a:r>
            <a:endParaRPr lang="en-US" sz="2200" dirty="0"/>
          </a:p>
        </p:txBody>
      </p:sp>
      <p:sp>
        <p:nvSpPr>
          <p:cNvPr id="6" name="Text 4"/>
          <p:cNvSpPr/>
          <p:nvPr/>
        </p:nvSpPr>
        <p:spPr>
          <a:xfrm>
            <a:off x="1737360" y="1600200"/>
            <a:ext cx="9875520" cy="365760"/>
          </a:xfrm>
          <a:prstGeom prst="rect">
            <a:avLst/>
          </a:prstGeom>
          <a:noFill/>
          <a:ln/>
        </p:spPr>
        <p:txBody>
          <a:bodyPr wrap="square" lIns="0" tIns="0" rIns="0" bIns="0" rtlCol="0" anchor="ctr"/>
          <a:lstStyle/>
          <a:p>
            <a:pPr marL="0" indent="0">
              <a:buNone/>
            </a:pPr>
            <a:r>
              <a:rPr lang="en-US" sz="1900" b="1" dirty="0">
                <a:solidFill>
                  <a:srgbClr val="1F2937"/>
                </a:solidFill>
                <a:latin typeface="Calibri" pitchFamily="34" charset="0"/>
                <a:ea typeface="Calibri" pitchFamily="34" charset="-122"/>
                <a:cs typeface="Calibri" pitchFamily="34" charset="-120"/>
              </a:rPr>
              <a:t>Preprocess + Feature Engineer</a:t>
            </a:r>
            <a:endParaRPr lang="en-US" sz="1900" dirty="0"/>
          </a:p>
        </p:txBody>
      </p:sp>
      <p:sp>
        <p:nvSpPr>
          <p:cNvPr id="7" name="Text 5"/>
          <p:cNvSpPr/>
          <p:nvPr/>
        </p:nvSpPr>
        <p:spPr>
          <a:xfrm>
            <a:off x="1737360" y="2011680"/>
            <a:ext cx="9875520" cy="91440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Median-impute 24 missing incomes. Build Age, TotalSpend, TotalCampaignsAccepted, TotalPurchases. Drop constants Z_CostContact, Z_Revenue, ID. Encode categoricals as factors.</a:t>
            </a:r>
            <a:endParaRPr lang="en-US" sz="1300" dirty="0"/>
          </a:p>
        </p:txBody>
      </p:sp>
      <p:sp>
        <p:nvSpPr>
          <p:cNvPr id="8" name="Shape 6"/>
          <p:cNvSpPr/>
          <p:nvPr/>
        </p:nvSpPr>
        <p:spPr>
          <a:xfrm>
            <a:off x="1737360" y="2971800"/>
            <a:ext cx="9692640" cy="0"/>
          </a:xfrm>
          <a:prstGeom prst="line">
            <a:avLst/>
          </a:prstGeom>
          <a:noFill/>
          <a:ln w="12700">
            <a:solidFill>
              <a:srgbClr val="E2E8F0"/>
            </a:solidFill>
            <a:prstDash val="solid"/>
          </a:ln>
        </p:spPr>
      </p:sp>
      <p:sp>
        <p:nvSpPr>
          <p:cNvPr id="9" name="Shape 7"/>
          <p:cNvSpPr/>
          <p:nvPr/>
        </p:nvSpPr>
        <p:spPr>
          <a:xfrm>
            <a:off x="548640" y="3108960"/>
            <a:ext cx="914400" cy="914400"/>
          </a:xfrm>
          <a:prstGeom prst="ellipse">
            <a:avLst/>
          </a:prstGeom>
          <a:solidFill>
            <a:srgbClr val="028090"/>
          </a:solidFill>
          <a:ln w="12700">
            <a:solidFill>
              <a:srgbClr val="028090"/>
            </a:solidFill>
            <a:prstDash val="solid"/>
          </a:ln>
        </p:spPr>
      </p:sp>
      <p:sp>
        <p:nvSpPr>
          <p:cNvPr id="10" name="Text 8"/>
          <p:cNvSpPr/>
          <p:nvPr/>
        </p:nvSpPr>
        <p:spPr>
          <a:xfrm>
            <a:off x="548640" y="3108960"/>
            <a:ext cx="914400" cy="9144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02</a:t>
            </a:r>
            <a:endParaRPr lang="en-US" sz="2200" dirty="0"/>
          </a:p>
        </p:txBody>
      </p:sp>
      <p:sp>
        <p:nvSpPr>
          <p:cNvPr id="11" name="Text 9"/>
          <p:cNvSpPr/>
          <p:nvPr/>
        </p:nvSpPr>
        <p:spPr>
          <a:xfrm>
            <a:off x="1737360" y="3154680"/>
            <a:ext cx="9875520" cy="365760"/>
          </a:xfrm>
          <a:prstGeom prst="rect">
            <a:avLst/>
          </a:prstGeom>
          <a:noFill/>
          <a:ln/>
        </p:spPr>
        <p:txBody>
          <a:bodyPr wrap="square" lIns="0" tIns="0" rIns="0" bIns="0" rtlCol="0" anchor="ctr"/>
          <a:lstStyle/>
          <a:p>
            <a:pPr marL="0" indent="0">
              <a:buNone/>
            </a:pPr>
            <a:r>
              <a:rPr lang="en-US" sz="1900" b="1" dirty="0">
                <a:solidFill>
                  <a:srgbClr val="1F2937"/>
                </a:solidFill>
                <a:latin typeface="Calibri" pitchFamily="34" charset="0"/>
                <a:ea typeface="Calibri" pitchFamily="34" charset="-122"/>
                <a:cs typeface="Calibri" pitchFamily="34" charset="-120"/>
              </a:rPr>
              <a:t>K-Means Clustering (Unsupervised)</a:t>
            </a:r>
            <a:endParaRPr lang="en-US" sz="1900" dirty="0"/>
          </a:p>
        </p:txBody>
      </p:sp>
      <p:sp>
        <p:nvSpPr>
          <p:cNvPr id="12" name="Text 10"/>
          <p:cNvSpPr/>
          <p:nvPr/>
        </p:nvSpPr>
        <p:spPr>
          <a:xfrm>
            <a:off x="1737360" y="3566160"/>
            <a:ext cx="9875520" cy="91440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Scale 6 numeric features, then use elbow method + silhouette analysis to pick K. Result: K = 4 customer segments with distinct income, spend, and response patterns.</a:t>
            </a:r>
            <a:endParaRPr lang="en-US" sz="1300" dirty="0"/>
          </a:p>
        </p:txBody>
      </p:sp>
      <p:sp>
        <p:nvSpPr>
          <p:cNvPr id="13" name="Shape 11"/>
          <p:cNvSpPr/>
          <p:nvPr/>
        </p:nvSpPr>
        <p:spPr>
          <a:xfrm>
            <a:off x="1737360" y="4526280"/>
            <a:ext cx="9692640" cy="0"/>
          </a:xfrm>
          <a:prstGeom prst="line">
            <a:avLst/>
          </a:prstGeom>
          <a:noFill/>
          <a:ln w="12700">
            <a:solidFill>
              <a:srgbClr val="E2E8F0"/>
            </a:solidFill>
            <a:prstDash val="solid"/>
          </a:ln>
        </p:spPr>
      </p:sp>
      <p:sp>
        <p:nvSpPr>
          <p:cNvPr id="14" name="Shape 12"/>
          <p:cNvSpPr/>
          <p:nvPr/>
        </p:nvSpPr>
        <p:spPr>
          <a:xfrm>
            <a:off x="548640" y="4663440"/>
            <a:ext cx="914400" cy="914400"/>
          </a:xfrm>
          <a:prstGeom prst="ellipse">
            <a:avLst/>
          </a:prstGeom>
          <a:solidFill>
            <a:srgbClr val="028090"/>
          </a:solidFill>
          <a:ln w="12700">
            <a:solidFill>
              <a:srgbClr val="028090"/>
            </a:solidFill>
            <a:prstDash val="solid"/>
          </a:ln>
        </p:spPr>
      </p:sp>
      <p:sp>
        <p:nvSpPr>
          <p:cNvPr id="15" name="Text 13"/>
          <p:cNvSpPr/>
          <p:nvPr/>
        </p:nvSpPr>
        <p:spPr>
          <a:xfrm>
            <a:off x="548640" y="4663440"/>
            <a:ext cx="914400" cy="9144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03</a:t>
            </a:r>
            <a:endParaRPr lang="en-US" sz="2200" dirty="0"/>
          </a:p>
        </p:txBody>
      </p:sp>
      <p:sp>
        <p:nvSpPr>
          <p:cNvPr id="16" name="Text 14"/>
          <p:cNvSpPr/>
          <p:nvPr/>
        </p:nvSpPr>
        <p:spPr>
          <a:xfrm>
            <a:off x="1737360" y="4709160"/>
            <a:ext cx="9875520" cy="365760"/>
          </a:xfrm>
          <a:prstGeom prst="rect">
            <a:avLst/>
          </a:prstGeom>
          <a:noFill/>
          <a:ln/>
        </p:spPr>
        <p:txBody>
          <a:bodyPr wrap="square" lIns="0" tIns="0" rIns="0" bIns="0" rtlCol="0" anchor="ctr"/>
          <a:lstStyle/>
          <a:p>
            <a:pPr marL="0" indent="0">
              <a:buNone/>
            </a:pPr>
            <a:r>
              <a:rPr lang="en-US" sz="1900" b="1" dirty="0">
                <a:solidFill>
                  <a:srgbClr val="1F2937"/>
                </a:solidFill>
                <a:latin typeface="Calibri" pitchFamily="34" charset="0"/>
                <a:ea typeface="Calibri" pitchFamily="34" charset="-122"/>
                <a:cs typeface="Calibri" pitchFamily="34" charset="-120"/>
              </a:rPr>
              <a:t>Classification (Supervised)</a:t>
            </a:r>
            <a:endParaRPr lang="en-US" sz="1900" dirty="0"/>
          </a:p>
        </p:txBody>
      </p:sp>
      <p:sp>
        <p:nvSpPr>
          <p:cNvPr id="17" name="Text 15"/>
          <p:cNvSpPr/>
          <p:nvPr/>
        </p:nvSpPr>
        <p:spPr>
          <a:xfrm>
            <a:off x="1737360" y="5120640"/>
            <a:ext cx="9875520" cy="91440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70/30 train/test split with 10-fold CV. Compare Decision Tree, KNN, and Logistic Regression on Accuracy, F1, Sensitivity, Specificity, Kappa. F1 matters more than Accuracy because of the 15/85 class imbalance.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155680" cy="274320"/>
          </a:xfrm>
          <a:prstGeom prst="rect">
            <a:avLst/>
          </a:prstGeom>
          <a:noFill/>
          <a:ln/>
        </p:spPr>
        <p:txBody>
          <a:bodyPr wrap="square" lIns="0" tIns="0" rIns="0" bIns="0" rtlCol="0" anchor="ctr"/>
          <a:lstStyle/>
          <a:p>
            <a:pPr marL="0" indent="0">
              <a:buNone/>
            </a:pPr>
            <a:r>
              <a:rPr lang="en-US" sz="1200" b="1" kern="0" spc="400" dirty="0">
                <a:solidFill>
                  <a:srgbClr val="028090"/>
                </a:solidFill>
                <a:latin typeface="Calibri" pitchFamily="34" charset="0"/>
                <a:ea typeface="Calibri" pitchFamily="34" charset="-122"/>
                <a:cs typeface="Calibri" pitchFamily="34" charset="-120"/>
              </a:rPr>
              <a:t>METHODS</a:t>
            </a:r>
            <a:endParaRPr lang="en-US" sz="1200" dirty="0"/>
          </a:p>
        </p:txBody>
      </p:sp>
      <p:sp>
        <p:nvSpPr>
          <p:cNvPr id="3" name="Text 1"/>
          <p:cNvSpPr/>
          <p:nvPr/>
        </p:nvSpPr>
        <p:spPr>
          <a:xfrm>
            <a:off x="548640" y="640080"/>
            <a:ext cx="11155680" cy="64008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K-Means in Plain Terms</a:t>
            </a:r>
            <a:endParaRPr lang="en-US" sz="3200" dirty="0"/>
          </a:p>
        </p:txBody>
      </p:sp>
      <p:sp>
        <p:nvSpPr>
          <p:cNvPr id="4" name="Text 2"/>
          <p:cNvSpPr/>
          <p:nvPr/>
        </p:nvSpPr>
        <p:spPr>
          <a:xfrm>
            <a:off x="548640" y="1463040"/>
            <a:ext cx="5029200" cy="320040"/>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HOW IT WORKS</a:t>
            </a:r>
            <a:endParaRPr lang="en-US" sz="1100" dirty="0"/>
          </a:p>
        </p:txBody>
      </p:sp>
      <p:sp>
        <p:nvSpPr>
          <p:cNvPr id="5" name="Text 3"/>
          <p:cNvSpPr/>
          <p:nvPr/>
        </p:nvSpPr>
        <p:spPr>
          <a:xfrm>
            <a:off x="640080" y="1828800"/>
            <a:ext cx="5120640" cy="274320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1F2937"/>
                </a:solidFill>
              </a:rPr>
              <a:t>Pick K random center points.</a:t>
            </a:r>
            <a:endParaRPr lang="en-US" sz="1400" dirty="0"/>
          </a:p>
          <a:p>
            <a:pPr marL="342900" indent="-342900">
              <a:spcAft>
                <a:spcPts val="600"/>
              </a:spcAft>
              <a:buSzPct val="100000"/>
              <a:buChar char="▸"/>
            </a:pPr>
            <a:r>
              <a:rPr lang="en-US" sz="1400" dirty="0">
                <a:solidFill>
                  <a:srgbClr val="1F2937"/>
                </a:solidFill>
              </a:rPr>
              <a:t>Assign every customer to the nearest center.</a:t>
            </a:r>
            <a:endParaRPr lang="en-US" sz="1400" dirty="0"/>
          </a:p>
          <a:p>
            <a:pPr marL="342900" indent="-342900">
              <a:spcAft>
                <a:spcPts val="600"/>
              </a:spcAft>
              <a:buSzPct val="100000"/>
              <a:buChar char="▸"/>
            </a:pPr>
            <a:r>
              <a:rPr lang="en-US" sz="1400" dirty="0">
                <a:solidFill>
                  <a:srgbClr val="1F2937"/>
                </a:solidFill>
              </a:rPr>
              <a:t>Move each center to the average of its customers.</a:t>
            </a:r>
            <a:endParaRPr lang="en-US" sz="1400" dirty="0"/>
          </a:p>
          <a:p>
            <a:pPr marL="342900" indent="-342900">
              <a:spcAft>
                <a:spcPts val="600"/>
              </a:spcAft>
              <a:buSzPct val="100000"/>
              <a:buChar char="▸"/>
            </a:pPr>
            <a:r>
              <a:rPr lang="en-US" sz="1400" dirty="0">
                <a:solidFill>
                  <a:srgbClr val="1F2937"/>
                </a:solidFill>
              </a:rPr>
              <a:t>Repeat until the centers stop moving.</a:t>
            </a:r>
            <a:endParaRPr lang="en-US" sz="1400" dirty="0"/>
          </a:p>
          <a:p>
            <a:pPr marL="342900" indent="-342900">
              <a:buSzPct val="100000"/>
              <a:buChar char="▸"/>
            </a:pPr>
            <a:r>
              <a:rPr lang="en-US" sz="1400" i="1" dirty="0">
                <a:solidFill>
                  <a:srgbClr val="1F2937"/>
                </a:solidFill>
              </a:rPr>
              <a:t>Result: K groups where members are close to their own center and far from others.</a:t>
            </a:r>
            <a:endParaRPr lang="en-US" sz="1400" dirty="0"/>
          </a:p>
        </p:txBody>
      </p:sp>
      <p:sp>
        <p:nvSpPr>
          <p:cNvPr id="6" name="Text 4"/>
          <p:cNvSpPr/>
          <p:nvPr/>
        </p:nvSpPr>
        <p:spPr>
          <a:xfrm>
            <a:off x="548640" y="4846320"/>
            <a:ext cx="5029200" cy="320040"/>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WHY WE SCALED THE DATA</a:t>
            </a:r>
            <a:endParaRPr lang="en-US" sz="1100" dirty="0"/>
          </a:p>
        </p:txBody>
      </p:sp>
      <p:sp>
        <p:nvSpPr>
          <p:cNvPr id="7" name="Text 5"/>
          <p:cNvSpPr/>
          <p:nvPr/>
        </p:nvSpPr>
        <p:spPr>
          <a:xfrm>
            <a:off x="548640" y="5212080"/>
            <a:ext cx="5212080" cy="118872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K-Means uses Euclidean distance. Without scaling, Income (in the thousands) would dominate Age (in tens), and clusters would essentially group by income alone.</a:t>
            </a:r>
            <a:endParaRPr lang="en-US" sz="1300" dirty="0"/>
          </a:p>
        </p:txBody>
      </p:sp>
      <p:sp>
        <p:nvSpPr>
          <p:cNvPr id="8" name="Shape 6"/>
          <p:cNvSpPr/>
          <p:nvPr/>
        </p:nvSpPr>
        <p:spPr>
          <a:xfrm>
            <a:off x="6126480" y="1463040"/>
            <a:ext cx="5669280" cy="4937760"/>
          </a:xfrm>
          <a:prstGeom prst="rect">
            <a:avLst/>
          </a:prstGeom>
          <a:solidFill>
            <a:srgbClr val="F1FAF9"/>
          </a:solidFill>
          <a:ln w="12700">
            <a:solidFill>
              <a:srgbClr val="E2E8F0"/>
            </a:solidFill>
            <a:prstDash val="solid"/>
          </a:ln>
        </p:spPr>
      </p:sp>
      <p:sp>
        <p:nvSpPr>
          <p:cNvPr id="9" name="Text 7"/>
          <p:cNvSpPr/>
          <p:nvPr/>
        </p:nvSpPr>
        <p:spPr>
          <a:xfrm>
            <a:off x="6309360" y="1600200"/>
            <a:ext cx="5303520" cy="320040"/>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HOW WE PICKED K = 4</a:t>
            </a:r>
            <a:endParaRPr lang="en-US" sz="1100" dirty="0"/>
          </a:p>
        </p:txBody>
      </p:sp>
      <p:pic>
        <p:nvPicPr>
          <p:cNvPr id="10" name="Image 0" descr="figures/image10.png"/>
          <p:cNvPicPr>
            <a:picLocks noChangeAspect="1"/>
          </p:cNvPicPr>
          <p:nvPr/>
        </p:nvPicPr>
        <p:blipFill>
          <a:blip r:embed="rId3"/>
          <a:stretch>
            <a:fillRect/>
          </a:stretch>
        </p:blipFill>
        <p:spPr>
          <a:xfrm>
            <a:off x="6309360" y="1920240"/>
            <a:ext cx="2606040" cy="1828800"/>
          </a:xfrm>
          <a:prstGeom prst="rect">
            <a:avLst/>
          </a:prstGeom>
        </p:spPr>
      </p:pic>
      <p:pic>
        <p:nvPicPr>
          <p:cNvPr id="11" name="Image 1" descr="figures/image11.png"/>
          <p:cNvPicPr>
            <a:picLocks noChangeAspect="1"/>
          </p:cNvPicPr>
          <p:nvPr/>
        </p:nvPicPr>
        <p:blipFill>
          <a:blip r:embed="rId4"/>
          <a:stretch>
            <a:fillRect/>
          </a:stretch>
        </p:blipFill>
        <p:spPr>
          <a:xfrm>
            <a:off x="9006840" y="1920240"/>
            <a:ext cx="2606040" cy="1828800"/>
          </a:xfrm>
          <a:prstGeom prst="rect">
            <a:avLst/>
          </a:prstGeom>
        </p:spPr>
      </p:pic>
      <p:sp>
        <p:nvSpPr>
          <p:cNvPr id="12" name="Text 8"/>
          <p:cNvSpPr/>
          <p:nvPr/>
        </p:nvSpPr>
        <p:spPr>
          <a:xfrm>
            <a:off x="6309360" y="3794760"/>
            <a:ext cx="2606040" cy="274320"/>
          </a:xfrm>
          <a:prstGeom prst="rect">
            <a:avLst/>
          </a:prstGeom>
          <a:noFill/>
          <a:ln/>
        </p:spPr>
        <p:txBody>
          <a:bodyPr wrap="square" lIns="0" tIns="0" rIns="0" bIns="0"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Elbow Method</a:t>
            </a:r>
            <a:endParaRPr lang="en-US" sz="1100" dirty="0"/>
          </a:p>
        </p:txBody>
      </p:sp>
      <p:sp>
        <p:nvSpPr>
          <p:cNvPr id="13" name="Text 9"/>
          <p:cNvSpPr/>
          <p:nvPr/>
        </p:nvSpPr>
        <p:spPr>
          <a:xfrm>
            <a:off x="9006840" y="3794760"/>
            <a:ext cx="2606040" cy="274320"/>
          </a:xfrm>
          <a:prstGeom prst="rect">
            <a:avLst/>
          </a:prstGeom>
          <a:noFill/>
          <a:ln/>
        </p:spPr>
        <p:txBody>
          <a:bodyPr wrap="square" lIns="0" tIns="0" rIns="0" bIns="0"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Silhouette Analysis</a:t>
            </a:r>
            <a:endParaRPr lang="en-US" sz="1100" dirty="0"/>
          </a:p>
        </p:txBody>
      </p:sp>
      <p:sp>
        <p:nvSpPr>
          <p:cNvPr id="14" name="Text 10"/>
          <p:cNvSpPr/>
          <p:nvPr/>
        </p:nvSpPr>
        <p:spPr>
          <a:xfrm>
            <a:off x="6309360" y="4206240"/>
            <a:ext cx="5394960" cy="210312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The elbow bends sharply at K = 4 and the silhouette score supports a clean separation. We also tried K-Medoids (PAM) but it gave noisier clusters with no real interpretation gain, so we stayed with K-Means.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155680" cy="274320"/>
          </a:xfrm>
          <a:prstGeom prst="rect">
            <a:avLst/>
          </a:prstGeom>
          <a:noFill/>
          <a:ln/>
        </p:spPr>
        <p:txBody>
          <a:bodyPr wrap="square" lIns="0" tIns="0" rIns="0" bIns="0" rtlCol="0" anchor="ctr"/>
          <a:lstStyle/>
          <a:p>
            <a:pPr marL="0" indent="0">
              <a:buNone/>
            </a:pPr>
            <a:r>
              <a:rPr lang="en-US" sz="1200" b="1" kern="0" spc="400" dirty="0">
                <a:solidFill>
                  <a:srgbClr val="028090"/>
                </a:solidFill>
                <a:latin typeface="Calibri" pitchFamily="34" charset="0"/>
                <a:ea typeface="Calibri" pitchFamily="34" charset="-122"/>
                <a:cs typeface="Calibri" pitchFamily="34" charset="-120"/>
              </a:rPr>
              <a:t>METHODS</a:t>
            </a:r>
            <a:endParaRPr lang="en-US" sz="1200" dirty="0"/>
          </a:p>
        </p:txBody>
      </p:sp>
      <p:sp>
        <p:nvSpPr>
          <p:cNvPr id="3" name="Text 1"/>
          <p:cNvSpPr/>
          <p:nvPr/>
        </p:nvSpPr>
        <p:spPr>
          <a:xfrm>
            <a:off x="548640" y="640080"/>
            <a:ext cx="11155680" cy="64008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Three Classifiers, Three Philosophies</a:t>
            </a:r>
            <a:endParaRPr lang="en-US" sz="3200" dirty="0"/>
          </a:p>
        </p:txBody>
      </p:sp>
      <p:sp>
        <p:nvSpPr>
          <p:cNvPr id="4" name="Shape 2"/>
          <p:cNvSpPr/>
          <p:nvPr/>
        </p:nvSpPr>
        <p:spPr>
          <a:xfrm>
            <a:off x="548640" y="1554480"/>
            <a:ext cx="3657600" cy="292608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5" name="Shape 3"/>
          <p:cNvSpPr/>
          <p:nvPr/>
        </p:nvSpPr>
        <p:spPr>
          <a:xfrm>
            <a:off x="548640" y="1554480"/>
            <a:ext cx="3657600" cy="109728"/>
          </a:xfrm>
          <a:prstGeom prst="rect">
            <a:avLst/>
          </a:prstGeom>
          <a:solidFill>
            <a:srgbClr val="028090"/>
          </a:solidFill>
          <a:ln w="12700">
            <a:solidFill>
              <a:srgbClr val="028090"/>
            </a:solidFill>
            <a:prstDash val="solid"/>
          </a:ln>
        </p:spPr>
      </p:sp>
      <p:sp>
        <p:nvSpPr>
          <p:cNvPr id="6" name="Text 4"/>
          <p:cNvSpPr/>
          <p:nvPr/>
        </p:nvSpPr>
        <p:spPr>
          <a:xfrm>
            <a:off x="777240" y="1783080"/>
            <a:ext cx="3291840" cy="457200"/>
          </a:xfrm>
          <a:prstGeom prst="rect">
            <a:avLst/>
          </a:prstGeom>
          <a:noFill/>
          <a:ln/>
        </p:spPr>
        <p:txBody>
          <a:bodyPr wrap="square" lIns="0" tIns="0" rIns="0" bIns="0" rtlCol="0" anchor="ctr"/>
          <a:lstStyle/>
          <a:p>
            <a:pPr marL="0" indent="0">
              <a:buNone/>
            </a:pPr>
            <a:r>
              <a:rPr lang="en-US" sz="2200" b="1" dirty="0">
                <a:solidFill>
                  <a:srgbClr val="1F2937"/>
                </a:solidFill>
                <a:latin typeface="Calibri" pitchFamily="34" charset="0"/>
                <a:ea typeface="Calibri" pitchFamily="34" charset="-122"/>
                <a:cs typeface="Calibri" pitchFamily="34" charset="-120"/>
              </a:rPr>
              <a:t>Decision Tree</a:t>
            </a:r>
            <a:endParaRPr lang="en-US" sz="2200" dirty="0"/>
          </a:p>
        </p:txBody>
      </p:sp>
      <p:sp>
        <p:nvSpPr>
          <p:cNvPr id="7" name="Text 5"/>
          <p:cNvSpPr/>
          <p:nvPr/>
        </p:nvSpPr>
        <p:spPr>
          <a:xfrm>
            <a:off x="777240" y="2286000"/>
            <a:ext cx="3291840" cy="320040"/>
          </a:xfrm>
          <a:prstGeom prst="rect">
            <a:avLst/>
          </a:prstGeom>
          <a:noFill/>
          <a:ln/>
        </p:spPr>
        <p:txBody>
          <a:bodyPr wrap="square" lIns="0" tIns="0" rIns="0" bIns="0" rtlCol="0" anchor="ctr"/>
          <a:lstStyle/>
          <a:p>
            <a:pPr marL="0" indent="0">
              <a:buNone/>
            </a:pPr>
            <a:r>
              <a:rPr lang="en-US" sz="1100" b="1" kern="0" spc="200" dirty="0">
                <a:solidFill>
                  <a:srgbClr val="028090"/>
                </a:solidFill>
                <a:latin typeface="Calibri" pitchFamily="34" charset="0"/>
                <a:ea typeface="Calibri" pitchFamily="34" charset="-122"/>
                <a:cs typeface="Calibri" pitchFamily="34" charset="-120"/>
              </a:rPr>
              <a:t>rpart, tuneLength = 10</a:t>
            </a:r>
            <a:endParaRPr lang="en-US" sz="1100" dirty="0"/>
          </a:p>
        </p:txBody>
      </p:sp>
      <p:sp>
        <p:nvSpPr>
          <p:cNvPr id="8" name="Text 6"/>
          <p:cNvSpPr/>
          <p:nvPr/>
        </p:nvSpPr>
        <p:spPr>
          <a:xfrm>
            <a:off x="777240" y="2697480"/>
            <a:ext cx="3291840" cy="17373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Splits the data on the most informative feature, then splits again, then again, building a flowchart of yes/no questions. Easy to explain to a non-technical audience.</a:t>
            </a:r>
            <a:endParaRPr lang="en-US" sz="1300" dirty="0"/>
          </a:p>
        </p:txBody>
      </p:sp>
      <p:sp>
        <p:nvSpPr>
          <p:cNvPr id="9" name="Shape 7"/>
          <p:cNvSpPr/>
          <p:nvPr/>
        </p:nvSpPr>
        <p:spPr>
          <a:xfrm>
            <a:off x="4343400" y="1554480"/>
            <a:ext cx="3657600" cy="292608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10" name="Shape 8"/>
          <p:cNvSpPr/>
          <p:nvPr/>
        </p:nvSpPr>
        <p:spPr>
          <a:xfrm>
            <a:off x="4343400" y="1554480"/>
            <a:ext cx="3657600" cy="109728"/>
          </a:xfrm>
          <a:prstGeom prst="rect">
            <a:avLst/>
          </a:prstGeom>
          <a:solidFill>
            <a:srgbClr val="0E7C7B"/>
          </a:solidFill>
          <a:ln w="12700">
            <a:solidFill>
              <a:srgbClr val="0E7C7B"/>
            </a:solidFill>
            <a:prstDash val="solid"/>
          </a:ln>
        </p:spPr>
      </p:sp>
      <p:sp>
        <p:nvSpPr>
          <p:cNvPr id="11" name="Text 9"/>
          <p:cNvSpPr/>
          <p:nvPr/>
        </p:nvSpPr>
        <p:spPr>
          <a:xfrm>
            <a:off x="4572000" y="1783080"/>
            <a:ext cx="3291840" cy="457200"/>
          </a:xfrm>
          <a:prstGeom prst="rect">
            <a:avLst/>
          </a:prstGeom>
          <a:noFill/>
          <a:ln/>
        </p:spPr>
        <p:txBody>
          <a:bodyPr wrap="square" lIns="0" tIns="0" rIns="0" bIns="0" rtlCol="0" anchor="ctr"/>
          <a:lstStyle/>
          <a:p>
            <a:pPr marL="0" indent="0">
              <a:buNone/>
            </a:pPr>
            <a:r>
              <a:rPr lang="en-US" sz="2200" b="1" dirty="0">
                <a:solidFill>
                  <a:srgbClr val="1F2937"/>
                </a:solidFill>
                <a:latin typeface="Calibri" pitchFamily="34" charset="0"/>
                <a:ea typeface="Calibri" pitchFamily="34" charset="-122"/>
                <a:cs typeface="Calibri" pitchFamily="34" charset="-120"/>
              </a:rPr>
              <a:t>KNN</a:t>
            </a:r>
            <a:endParaRPr lang="en-US" sz="2200" dirty="0"/>
          </a:p>
        </p:txBody>
      </p:sp>
      <p:sp>
        <p:nvSpPr>
          <p:cNvPr id="12" name="Text 10"/>
          <p:cNvSpPr/>
          <p:nvPr/>
        </p:nvSpPr>
        <p:spPr>
          <a:xfrm>
            <a:off x="4572000" y="2286000"/>
            <a:ext cx="3291840" cy="320040"/>
          </a:xfrm>
          <a:prstGeom prst="rect">
            <a:avLst/>
          </a:prstGeom>
          <a:noFill/>
          <a:ln/>
        </p:spPr>
        <p:txBody>
          <a:bodyPr wrap="square" lIns="0" tIns="0" rIns="0" bIns="0" rtlCol="0" anchor="ctr"/>
          <a:lstStyle/>
          <a:p>
            <a:pPr marL="0" indent="0">
              <a:buNone/>
            </a:pPr>
            <a:r>
              <a:rPr lang="en-US" sz="1100" b="1" kern="0" spc="200" dirty="0">
                <a:solidFill>
                  <a:srgbClr val="0E7C7B"/>
                </a:solidFill>
                <a:latin typeface="Calibri" pitchFamily="34" charset="0"/>
                <a:ea typeface="Calibri" pitchFamily="34" charset="-122"/>
                <a:cs typeface="Calibri" pitchFamily="34" charset="-120"/>
              </a:rPr>
              <a:t>k tuned 3–21, scaled features</a:t>
            </a:r>
            <a:endParaRPr lang="en-US" sz="1100" dirty="0"/>
          </a:p>
        </p:txBody>
      </p:sp>
      <p:sp>
        <p:nvSpPr>
          <p:cNvPr id="13" name="Text 11"/>
          <p:cNvSpPr/>
          <p:nvPr/>
        </p:nvSpPr>
        <p:spPr>
          <a:xfrm>
            <a:off x="4572000" y="2697480"/>
            <a:ext cx="3291840" cy="17373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Looks at the K nearest customers in feature space and votes. Simple but distance-sensitive, so we centered and scaled every feature first.</a:t>
            </a:r>
            <a:endParaRPr lang="en-US" sz="1300" dirty="0"/>
          </a:p>
        </p:txBody>
      </p:sp>
      <p:sp>
        <p:nvSpPr>
          <p:cNvPr id="14" name="Shape 12"/>
          <p:cNvSpPr/>
          <p:nvPr/>
        </p:nvSpPr>
        <p:spPr>
          <a:xfrm>
            <a:off x="8138160" y="1554480"/>
            <a:ext cx="3657600" cy="292608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15" name="Shape 13"/>
          <p:cNvSpPr/>
          <p:nvPr/>
        </p:nvSpPr>
        <p:spPr>
          <a:xfrm>
            <a:off x="8138160" y="1554480"/>
            <a:ext cx="3657600" cy="109728"/>
          </a:xfrm>
          <a:prstGeom prst="rect">
            <a:avLst/>
          </a:prstGeom>
          <a:solidFill>
            <a:srgbClr val="0891B2"/>
          </a:solidFill>
          <a:ln w="12700">
            <a:solidFill>
              <a:srgbClr val="0891B2"/>
            </a:solidFill>
            <a:prstDash val="solid"/>
          </a:ln>
        </p:spPr>
      </p:sp>
      <p:sp>
        <p:nvSpPr>
          <p:cNvPr id="16" name="Text 14"/>
          <p:cNvSpPr/>
          <p:nvPr/>
        </p:nvSpPr>
        <p:spPr>
          <a:xfrm>
            <a:off x="8366760" y="1783080"/>
            <a:ext cx="3291840" cy="457200"/>
          </a:xfrm>
          <a:prstGeom prst="rect">
            <a:avLst/>
          </a:prstGeom>
          <a:noFill/>
          <a:ln/>
        </p:spPr>
        <p:txBody>
          <a:bodyPr wrap="square" lIns="0" tIns="0" rIns="0" bIns="0" rtlCol="0" anchor="ctr"/>
          <a:lstStyle/>
          <a:p>
            <a:pPr marL="0" indent="0">
              <a:buNone/>
            </a:pPr>
            <a:r>
              <a:rPr lang="en-US" sz="2200" b="1" dirty="0">
                <a:solidFill>
                  <a:srgbClr val="1F2937"/>
                </a:solidFill>
                <a:latin typeface="Calibri" pitchFamily="34" charset="0"/>
                <a:ea typeface="Calibri" pitchFamily="34" charset="-122"/>
                <a:cs typeface="Calibri" pitchFamily="34" charset="-120"/>
              </a:rPr>
              <a:t>Logistic Regression</a:t>
            </a:r>
            <a:endParaRPr lang="en-US" sz="2200" dirty="0"/>
          </a:p>
        </p:txBody>
      </p:sp>
      <p:sp>
        <p:nvSpPr>
          <p:cNvPr id="17" name="Text 15"/>
          <p:cNvSpPr/>
          <p:nvPr/>
        </p:nvSpPr>
        <p:spPr>
          <a:xfrm>
            <a:off x="8366760" y="2286000"/>
            <a:ext cx="3291840" cy="320040"/>
          </a:xfrm>
          <a:prstGeom prst="rect">
            <a:avLst/>
          </a:prstGeom>
          <a:noFill/>
          <a:ln/>
        </p:spPr>
        <p:txBody>
          <a:bodyPr wrap="square" lIns="0" tIns="0" rIns="0" bIns="0" rtlCol="0" anchor="ctr"/>
          <a:lstStyle/>
          <a:p>
            <a:pPr marL="0" indent="0">
              <a:buNone/>
            </a:pPr>
            <a:r>
              <a:rPr lang="en-US" sz="1100" b="1" kern="0" spc="200" dirty="0">
                <a:solidFill>
                  <a:srgbClr val="0891B2"/>
                </a:solidFill>
                <a:latin typeface="Calibri" pitchFamily="34" charset="0"/>
                <a:ea typeface="Calibri" pitchFamily="34" charset="-122"/>
                <a:cs typeface="Calibri" pitchFamily="34" charset="-120"/>
              </a:rPr>
              <a:t>GLM with binomial link</a:t>
            </a:r>
            <a:endParaRPr lang="en-US" sz="1100" dirty="0"/>
          </a:p>
        </p:txBody>
      </p:sp>
      <p:sp>
        <p:nvSpPr>
          <p:cNvPr id="18" name="Text 16"/>
          <p:cNvSpPr/>
          <p:nvPr/>
        </p:nvSpPr>
        <p:spPr>
          <a:xfrm>
            <a:off x="8366760" y="2697480"/>
            <a:ext cx="3291840" cy="173736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Fits a probability curve to the data and outputs a likelihood of acceptance. Gives interpretable coefficients showing which features push acceptance up or down.</a:t>
            </a:r>
            <a:endParaRPr lang="en-US" sz="1300" dirty="0"/>
          </a:p>
        </p:txBody>
      </p:sp>
      <p:sp>
        <p:nvSpPr>
          <p:cNvPr id="19" name="Shape 17"/>
          <p:cNvSpPr/>
          <p:nvPr/>
        </p:nvSpPr>
        <p:spPr>
          <a:xfrm>
            <a:off x="548640" y="4754880"/>
            <a:ext cx="11247120" cy="1645920"/>
          </a:xfrm>
          <a:prstGeom prst="rect">
            <a:avLst/>
          </a:prstGeom>
          <a:solidFill>
            <a:srgbClr val="0B3A3C"/>
          </a:solidFill>
          <a:ln w="12700">
            <a:solidFill>
              <a:srgbClr val="0B3A3C"/>
            </a:solidFill>
            <a:prstDash val="solid"/>
          </a:ln>
        </p:spPr>
      </p:sp>
      <p:sp>
        <p:nvSpPr>
          <p:cNvPr id="20" name="Text 18"/>
          <p:cNvSpPr/>
          <p:nvPr/>
        </p:nvSpPr>
        <p:spPr>
          <a:xfrm>
            <a:off x="777240" y="4892040"/>
            <a:ext cx="6400800" cy="274320"/>
          </a:xfrm>
          <a:prstGeom prst="rect">
            <a:avLst/>
          </a:prstGeom>
          <a:noFill/>
          <a:ln/>
        </p:spPr>
        <p:txBody>
          <a:bodyPr wrap="square" lIns="0" tIns="0" rIns="0" bIns="0" rtlCol="0" anchor="ctr"/>
          <a:lstStyle/>
          <a:p>
            <a:pPr marL="0" indent="0">
              <a:buNone/>
            </a:pPr>
            <a:r>
              <a:rPr lang="en-US" sz="1100" b="1" kern="0" spc="300" dirty="0">
                <a:solidFill>
                  <a:srgbClr val="00A896"/>
                </a:solidFill>
                <a:latin typeface="Calibri" pitchFamily="34" charset="0"/>
                <a:ea typeface="Calibri" pitchFamily="34" charset="-122"/>
                <a:cs typeface="Calibri" pitchFamily="34" charset="-120"/>
              </a:rPr>
              <a:t>SHARED EXPERIMENTAL DESIGN</a:t>
            </a:r>
            <a:endParaRPr lang="en-US" sz="1100" dirty="0"/>
          </a:p>
        </p:txBody>
      </p:sp>
      <p:sp>
        <p:nvSpPr>
          <p:cNvPr id="21" name="Text 19"/>
          <p:cNvSpPr/>
          <p:nvPr/>
        </p:nvSpPr>
        <p:spPr>
          <a:xfrm>
            <a:off x="777240" y="5257800"/>
            <a:ext cx="2651760" cy="274320"/>
          </a:xfrm>
          <a:prstGeom prst="rect">
            <a:avLst/>
          </a:prstGeom>
          <a:noFill/>
          <a:ln/>
        </p:spPr>
        <p:txBody>
          <a:bodyPr wrap="square" lIns="0" tIns="0" rIns="0" bIns="0" rtlCol="0" anchor="ctr"/>
          <a:lstStyle/>
          <a:p>
            <a:pPr marL="0" indent="0">
              <a:buNone/>
            </a:pPr>
            <a:r>
              <a:rPr lang="en-US" sz="1000" b="1" kern="0" spc="200" dirty="0">
                <a:solidFill>
                  <a:srgbClr val="8FCBC9"/>
                </a:solidFill>
                <a:latin typeface="Calibri" pitchFamily="34" charset="0"/>
                <a:ea typeface="Calibri" pitchFamily="34" charset="-122"/>
                <a:cs typeface="Calibri" pitchFamily="34" charset="-120"/>
              </a:rPr>
              <a:t>Split</a:t>
            </a:r>
            <a:endParaRPr lang="en-US" sz="1000" dirty="0"/>
          </a:p>
        </p:txBody>
      </p:sp>
      <p:sp>
        <p:nvSpPr>
          <p:cNvPr id="22" name="Text 20"/>
          <p:cNvSpPr/>
          <p:nvPr/>
        </p:nvSpPr>
        <p:spPr>
          <a:xfrm>
            <a:off x="777240" y="5532120"/>
            <a:ext cx="2651760" cy="7772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70% train / 30% test, stratified</a:t>
            </a:r>
            <a:endParaRPr lang="en-US" sz="1300" dirty="0"/>
          </a:p>
        </p:txBody>
      </p:sp>
      <p:sp>
        <p:nvSpPr>
          <p:cNvPr id="23" name="Text 21"/>
          <p:cNvSpPr/>
          <p:nvPr/>
        </p:nvSpPr>
        <p:spPr>
          <a:xfrm>
            <a:off x="3566160" y="5257800"/>
            <a:ext cx="2651760" cy="274320"/>
          </a:xfrm>
          <a:prstGeom prst="rect">
            <a:avLst/>
          </a:prstGeom>
          <a:noFill/>
          <a:ln/>
        </p:spPr>
        <p:txBody>
          <a:bodyPr wrap="square" lIns="0" tIns="0" rIns="0" bIns="0" rtlCol="0" anchor="ctr"/>
          <a:lstStyle/>
          <a:p>
            <a:pPr marL="0" indent="0">
              <a:buNone/>
            </a:pPr>
            <a:r>
              <a:rPr lang="en-US" sz="1000" b="1" kern="0" spc="200" dirty="0">
                <a:solidFill>
                  <a:srgbClr val="8FCBC9"/>
                </a:solidFill>
                <a:latin typeface="Calibri" pitchFamily="34" charset="0"/>
                <a:ea typeface="Calibri" pitchFamily="34" charset="-122"/>
                <a:cs typeface="Calibri" pitchFamily="34" charset="-120"/>
              </a:rPr>
              <a:t>Tuning</a:t>
            </a:r>
            <a:endParaRPr lang="en-US" sz="1000" dirty="0"/>
          </a:p>
        </p:txBody>
      </p:sp>
      <p:sp>
        <p:nvSpPr>
          <p:cNvPr id="24" name="Text 22"/>
          <p:cNvSpPr/>
          <p:nvPr/>
        </p:nvSpPr>
        <p:spPr>
          <a:xfrm>
            <a:off x="3566160" y="5532120"/>
            <a:ext cx="2651760" cy="7772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10-fold cross-validation on training set</a:t>
            </a:r>
            <a:endParaRPr lang="en-US" sz="1300" dirty="0"/>
          </a:p>
        </p:txBody>
      </p:sp>
      <p:sp>
        <p:nvSpPr>
          <p:cNvPr id="25" name="Text 23"/>
          <p:cNvSpPr/>
          <p:nvPr/>
        </p:nvSpPr>
        <p:spPr>
          <a:xfrm>
            <a:off x="6355080" y="5257800"/>
            <a:ext cx="2651760" cy="274320"/>
          </a:xfrm>
          <a:prstGeom prst="rect">
            <a:avLst/>
          </a:prstGeom>
          <a:noFill/>
          <a:ln/>
        </p:spPr>
        <p:txBody>
          <a:bodyPr wrap="square" lIns="0" tIns="0" rIns="0" bIns="0" rtlCol="0" anchor="ctr"/>
          <a:lstStyle/>
          <a:p>
            <a:pPr marL="0" indent="0">
              <a:buNone/>
            </a:pPr>
            <a:r>
              <a:rPr lang="en-US" sz="1000" b="1" kern="0" spc="200" dirty="0">
                <a:solidFill>
                  <a:srgbClr val="8FCBC9"/>
                </a:solidFill>
                <a:latin typeface="Calibri" pitchFamily="34" charset="0"/>
                <a:ea typeface="Calibri" pitchFamily="34" charset="-122"/>
                <a:cs typeface="Calibri" pitchFamily="34" charset="-120"/>
              </a:rPr>
              <a:t>Metric</a:t>
            </a:r>
            <a:endParaRPr lang="en-US" sz="1000" dirty="0"/>
          </a:p>
        </p:txBody>
      </p:sp>
      <p:sp>
        <p:nvSpPr>
          <p:cNvPr id="26" name="Text 24"/>
          <p:cNvSpPr/>
          <p:nvPr/>
        </p:nvSpPr>
        <p:spPr>
          <a:xfrm>
            <a:off x="6355080" y="5532120"/>
            <a:ext cx="2651760" cy="7772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ROC for tuning, F1 for model selection</a:t>
            </a:r>
            <a:endParaRPr lang="en-US" sz="1300" dirty="0"/>
          </a:p>
        </p:txBody>
      </p:sp>
      <p:sp>
        <p:nvSpPr>
          <p:cNvPr id="27" name="Text 25"/>
          <p:cNvSpPr/>
          <p:nvPr/>
        </p:nvSpPr>
        <p:spPr>
          <a:xfrm>
            <a:off x="9144000" y="5257800"/>
            <a:ext cx="2651760" cy="274320"/>
          </a:xfrm>
          <a:prstGeom prst="rect">
            <a:avLst/>
          </a:prstGeom>
          <a:noFill/>
          <a:ln/>
        </p:spPr>
        <p:txBody>
          <a:bodyPr wrap="square" lIns="0" tIns="0" rIns="0" bIns="0" rtlCol="0" anchor="ctr"/>
          <a:lstStyle/>
          <a:p>
            <a:pPr marL="0" indent="0">
              <a:buNone/>
            </a:pPr>
            <a:r>
              <a:rPr lang="en-US" sz="1000" b="1" kern="0" spc="200" dirty="0">
                <a:solidFill>
                  <a:srgbClr val="8FCBC9"/>
                </a:solidFill>
                <a:latin typeface="Calibri" pitchFamily="34" charset="0"/>
                <a:ea typeface="Calibri" pitchFamily="34" charset="-122"/>
                <a:cs typeface="Calibri" pitchFamily="34" charset="-120"/>
              </a:rPr>
              <a:t>Target</a:t>
            </a:r>
            <a:endParaRPr lang="en-US" sz="1000" dirty="0"/>
          </a:p>
        </p:txBody>
      </p:sp>
      <p:sp>
        <p:nvSpPr>
          <p:cNvPr id="28" name="Text 26"/>
          <p:cNvSpPr/>
          <p:nvPr/>
        </p:nvSpPr>
        <p:spPr>
          <a:xfrm>
            <a:off x="9144000" y="5532120"/>
            <a:ext cx="2651760" cy="7772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Response (1 = accepted, 0 = not accepted)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155680" cy="274320"/>
          </a:xfrm>
          <a:prstGeom prst="rect">
            <a:avLst/>
          </a:prstGeom>
          <a:noFill/>
          <a:ln/>
        </p:spPr>
        <p:txBody>
          <a:bodyPr wrap="square" lIns="0" tIns="0" rIns="0" bIns="0" rtlCol="0" anchor="ctr"/>
          <a:lstStyle/>
          <a:p>
            <a:pPr marL="0" indent="0">
              <a:buNone/>
            </a:pPr>
            <a:r>
              <a:rPr lang="en-US" sz="1200" b="1" kern="0" spc="400" dirty="0">
                <a:solidFill>
                  <a:srgbClr val="028090"/>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640080"/>
            <a:ext cx="11155680" cy="64008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Four Customer Segments</a:t>
            </a:r>
            <a:endParaRPr lang="en-US" sz="3200" dirty="0"/>
          </a:p>
        </p:txBody>
      </p:sp>
      <p:pic>
        <p:nvPicPr>
          <p:cNvPr id="4" name="Image 0" descr="figures/image12.png"/>
          <p:cNvPicPr>
            <a:picLocks noChangeAspect="1"/>
          </p:cNvPicPr>
          <p:nvPr/>
        </p:nvPicPr>
        <p:blipFill>
          <a:blip r:embed="rId3"/>
          <a:stretch>
            <a:fillRect/>
          </a:stretch>
        </p:blipFill>
        <p:spPr>
          <a:xfrm>
            <a:off x="548640" y="1463040"/>
            <a:ext cx="5486400" cy="2743200"/>
          </a:xfrm>
          <a:prstGeom prst="rect">
            <a:avLst/>
          </a:prstGeom>
        </p:spPr>
      </p:pic>
      <p:pic>
        <p:nvPicPr>
          <p:cNvPr id="5" name="Image 1" descr="figures/image13.png"/>
          <p:cNvPicPr>
            <a:picLocks noChangeAspect="1"/>
          </p:cNvPicPr>
          <p:nvPr/>
        </p:nvPicPr>
        <p:blipFill>
          <a:blip r:embed="rId4"/>
          <a:stretch>
            <a:fillRect/>
          </a:stretch>
        </p:blipFill>
        <p:spPr>
          <a:xfrm>
            <a:off x="548640" y="4297680"/>
            <a:ext cx="5486400" cy="2286000"/>
          </a:xfrm>
          <a:prstGeom prst="rect">
            <a:avLst/>
          </a:prstGeom>
        </p:spPr>
      </p:pic>
      <p:sp>
        <p:nvSpPr>
          <p:cNvPr id="6" name="Shape 2"/>
          <p:cNvSpPr/>
          <p:nvPr/>
        </p:nvSpPr>
        <p:spPr>
          <a:xfrm>
            <a:off x="6309360" y="1463040"/>
            <a:ext cx="5486400" cy="1143000"/>
          </a:xfrm>
          <a:prstGeom prst="rect">
            <a:avLst/>
          </a:prstGeom>
          <a:solidFill>
            <a:srgbClr val="F1FAF9"/>
          </a:solidFill>
          <a:ln w="19050">
            <a:solidFill>
              <a:srgbClr val="028090"/>
            </a:solidFill>
            <a:prstDash val="solid"/>
          </a:ln>
        </p:spPr>
      </p:sp>
      <p:sp>
        <p:nvSpPr>
          <p:cNvPr id="7" name="Shape 3"/>
          <p:cNvSpPr/>
          <p:nvPr/>
        </p:nvSpPr>
        <p:spPr>
          <a:xfrm>
            <a:off x="6309360" y="1463040"/>
            <a:ext cx="73152" cy="1143000"/>
          </a:xfrm>
          <a:prstGeom prst="rect">
            <a:avLst/>
          </a:prstGeom>
          <a:solidFill>
            <a:srgbClr val="028090"/>
          </a:solidFill>
          <a:ln w="12700">
            <a:solidFill>
              <a:srgbClr val="028090"/>
            </a:solidFill>
            <a:prstDash val="solid"/>
          </a:ln>
        </p:spPr>
      </p:sp>
      <p:sp>
        <p:nvSpPr>
          <p:cNvPr id="8" name="Text 4"/>
          <p:cNvSpPr/>
          <p:nvPr/>
        </p:nvSpPr>
        <p:spPr>
          <a:xfrm>
            <a:off x="6446520" y="1508760"/>
            <a:ext cx="1828800" cy="320040"/>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Cluster 1</a:t>
            </a:r>
            <a:endParaRPr lang="en-US" sz="1400" dirty="0"/>
          </a:p>
        </p:txBody>
      </p:sp>
      <p:sp>
        <p:nvSpPr>
          <p:cNvPr id="9" name="Text 5"/>
          <p:cNvSpPr/>
          <p:nvPr/>
        </p:nvSpPr>
        <p:spPr>
          <a:xfrm>
            <a:off x="6446520" y="1828800"/>
            <a:ext cx="3200400" cy="274320"/>
          </a:xfrm>
          <a:prstGeom prst="rect">
            <a:avLst/>
          </a:prstGeom>
          <a:noFill/>
          <a:ln/>
        </p:spPr>
        <p:txBody>
          <a:bodyPr wrap="square" lIns="0" tIns="0" rIns="0" bIns="0" rtlCol="0" anchor="ctr"/>
          <a:lstStyle/>
          <a:p>
            <a:pPr marL="0" indent="0">
              <a:buNone/>
            </a:pPr>
            <a:r>
              <a:rPr lang="en-US" sz="1100" b="1" i="1" dirty="0">
                <a:solidFill>
                  <a:srgbClr val="028090"/>
                </a:solidFill>
                <a:latin typeface="Calibri" pitchFamily="34" charset="0"/>
                <a:ea typeface="Calibri" pitchFamily="34" charset="-122"/>
                <a:cs typeface="Calibri" pitchFamily="34" charset="-120"/>
              </a:rPr>
              <a:t>High value, high response</a:t>
            </a:r>
            <a:endParaRPr lang="en-US" sz="1100" dirty="0"/>
          </a:p>
        </p:txBody>
      </p:sp>
      <p:sp>
        <p:nvSpPr>
          <p:cNvPr id="10" name="Text 6"/>
          <p:cNvSpPr/>
          <p:nvPr/>
        </p:nvSpPr>
        <p:spPr>
          <a:xfrm>
            <a:off x="6446520" y="2148840"/>
            <a:ext cx="4206240" cy="411480"/>
          </a:xfrm>
          <a:prstGeom prst="rect">
            <a:avLst/>
          </a:prstGeom>
          <a:noFill/>
          <a:ln/>
        </p:spPr>
        <p:txBody>
          <a:bodyPr wrap="square" lIns="0" tIns="0" rIns="0" bIns="0" rtlCol="0" anchor="ctr"/>
          <a:lstStyle/>
          <a:p>
            <a:pPr marL="0" indent="0">
              <a:buNone/>
            </a:pPr>
            <a:r>
              <a:rPr lang="en-US" sz="1000" kern="0" spc="200" dirty="0">
                <a:solidFill>
                  <a:srgbClr val="6B7280"/>
                </a:solidFill>
              </a:rPr>
              <a:t>n  </a:t>
            </a:r>
            <a:r>
              <a:rPr lang="en-US" sz="1200" b="1" dirty="0">
                <a:solidFill>
                  <a:srgbClr val="1F2937"/>
                </a:solidFill>
              </a:rPr>
              <a:t>189</a:t>
            </a:r>
            <a:r>
              <a:rPr lang="en-US" sz="1000" kern="0" spc="200" dirty="0">
                <a:solidFill>
                  <a:srgbClr val="6B7280"/>
                </a:solidFill>
              </a:rPr>
              <a:t>    inc  </a:t>
            </a:r>
            <a:r>
              <a:rPr lang="en-US" sz="1200" b="1" dirty="0">
                <a:solidFill>
                  <a:srgbClr val="1F2937"/>
                </a:solidFill>
              </a:rPr>
              <a:t>$82,547</a:t>
            </a:r>
            <a:r>
              <a:rPr lang="en-US" sz="1000" kern="0" spc="200" dirty="0">
                <a:solidFill>
                  <a:srgbClr val="6B7280"/>
                </a:solidFill>
              </a:rPr>
              <a:t>    spend  </a:t>
            </a:r>
            <a:r>
              <a:rPr lang="en-US" sz="1200" b="1" dirty="0">
                <a:solidFill>
                  <a:srgbClr val="1F2937"/>
                </a:solidFill>
              </a:rPr>
              <a:t>$1,612</a:t>
            </a:r>
            <a:endParaRPr lang="en-US" sz="1000" dirty="0"/>
          </a:p>
        </p:txBody>
      </p:sp>
      <p:sp>
        <p:nvSpPr>
          <p:cNvPr id="11" name="Text 7"/>
          <p:cNvSpPr/>
          <p:nvPr/>
        </p:nvSpPr>
        <p:spPr>
          <a:xfrm>
            <a:off x="10424160" y="1691640"/>
            <a:ext cx="1280160" cy="731520"/>
          </a:xfrm>
          <a:prstGeom prst="rect">
            <a:avLst/>
          </a:prstGeom>
          <a:noFill/>
          <a:ln/>
        </p:spPr>
        <p:txBody>
          <a:bodyPr wrap="square" lIns="0" tIns="0" rIns="0" bIns="0" rtlCol="0" anchor="ctr"/>
          <a:lstStyle/>
          <a:p>
            <a:pPr marL="0" indent="0" algn="r">
              <a:buNone/>
            </a:pPr>
            <a:r>
              <a:rPr lang="en-US" sz="2600" b="1" dirty="0">
                <a:solidFill>
                  <a:srgbClr val="028090"/>
                </a:solidFill>
                <a:latin typeface="Calibri" pitchFamily="34" charset="0"/>
                <a:ea typeface="Calibri" pitchFamily="34" charset="-122"/>
                <a:cs typeface="Calibri" pitchFamily="34" charset="-120"/>
              </a:rPr>
              <a:t>57.7%</a:t>
            </a:r>
            <a:endParaRPr lang="en-US" sz="2600" dirty="0"/>
          </a:p>
        </p:txBody>
      </p:sp>
      <p:sp>
        <p:nvSpPr>
          <p:cNvPr id="12" name="Text 8"/>
          <p:cNvSpPr/>
          <p:nvPr/>
        </p:nvSpPr>
        <p:spPr>
          <a:xfrm>
            <a:off x="10424160" y="2331720"/>
            <a:ext cx="1280160" cy="228600"/>
          </a:xfrm>
          <a:prstGeom prst="rect">
            <a:avLst/>
          </a:prstGeom>
          <a:noFill/>
          <a:ln/>
        </p:spPr>
        <p:txBody>
          <a:bodyPr wrap="square" lIns="0" tIns="0" rIns="0" bIns="0" rtlCol="0" anchor="ctr"/>
          <a:lstStyle/>
          <a:p>
            <a:pPr marL="0" indent="0" algn="r">
              <a:buNone/>
            </a:pPr>
            <a:r>
              <a:rPr lang="en-US" sz="900" kern="0" spc="200" dirty="0">
                <a:solidFill>
                  <a:srgbClr val="6B7280"/>
                </a:solidFill>
                <a:latin typeface="Calibri" pitchFamily="34" charset="0"/>
                <a:ea typeface="Calibri" pitchFamily="34" charset="-122"/>
                <a:cs typeface="Calibri" pitchFamily="34" charset="-120"/>
              </a:rPr>
              <a:t>response</a:t>
            </a:r>
            <a:endParaRPr lang="en-US" sz="900" dirty="0"/>
          </a:p>
        </p:txBody>
      </p:sp>
      <p:sp>
        <p:nvSpPr>
          <p:cNvPr id="13" name="Shape 9"/>
          <p:cNvSpPr/>
          <p:nvPr/>
        </p:nvSpPr>
        <p:spPr>
          <a:xfrm>
            <a:off x="6309360" y="2743200"/>
            <a:ext cx="5486400" cy="1143000"/>
          </a:xfrm>
          <a:prstGeom prst="rect">
            <a:avLst/>
          </a:prstGeom>
          <a:solidFill>
            <a:srgbClr val="FFFFFF"/>
          </a:solidFill>
          <a:ln w="12700">
            <a:solidFill>
              <a:srgbClr val="E2E8F0"/>
            </a:solidFill>
            <a:prstDash val="solid"/>
          </a:ln>
        </p:spPr>
      </p:sp>
      <p:sp>
        <p:nvSpPr>
          <p:cNvPr id="14" name="Shape 10"/>
          <p:cNvSpPr/>
          <p:nvPr/>
        </p:nvSpPr>
        <p:spPr>
          <a:xfrm>
            <a:off x="6309360" y="2743200"/>
            <a:ext cx="73152" cy="1143000"/>
          </a:xfrm>
          <a:prstGeom prst="rect">
            <a:avLst/>
          </a:prstGeom>
          <a:solidFill>
            <a:srgbClr val="0E7C7B"/>
          </a:solidFill>
          <a:ln w="12700">
            <a:solidFill>
              <a:srgbClr val="0E7C7B"/>
            </a:solidFill>
            <a:prstDash val="solid"/>
          </a:ln>
        </p:spPr>
      </p:sp>
      <p:sp>
        <p:nvSpPr>
          <p:cNvPr id="15" name="Text 11"/>
          <p:cNvSpPr/>
          <p:nvPr/>
        </p:nvSpPr>
        <p:spPr>
          <a:xfrm>
            <a:off x="6446520" y="2788920"/>
            <a:ext cx="1828800" cy="320040"/>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Cluster 2</a:t>
            </a:r>
            <a:endParaRPr lang="en-US" sz="1400" dirty="0"/>
          </a:p>
        </p:txBody>
      </p:sp>
      <p:sp>
        <p:nvSpPr>
          <p:cNvPr id="16" name="Text 12"/>
          <p:cNvSpPr/>
          <p:nvPr/>
        </p:nvSpPr>
        <p:spPr>
          <a:xfrm>
            <a:off x="6446520" y="3108960"/>
            <a:ext cx="3200400" cy="274320"/>
          </a:xfrm>
          <a:prstGeom prst="rect">
            <a:avLst/>
          </a:prstGeom>
          <a:noFill/>
          <a:ln/>
        </p:spPr>
        <p:txBody>
          <a:bodyPr wrap="square" lIns="0" tIns="0" rIns="0" bIns="0" rtlCol="0" anchor="ctr"/>
          <a:lstStyle/>
          <a:p>
            <a:pPr marL="0" indent="0">
              <a:buNone/>
            </a:pPr>
            <a:r>
              <a:rPr lang="en-US" sz="1100" b="1" i="1" dirty="0">
                <a:solidFill>
                  <a:srgbClr val="0E7C7B"/>
                </a:solidFill>
                <a:latin typeface="Calibri" pitchFamily="34" charset="0"/>
                <a:ea typeface="Calibri" pitchFamily="34" charset="-122"/>
                <a:cs typeface="Calibri" pitchFamily="34" charset="-120"/>
              </a:rPr>
              <a:t>Affluent but cool</a:t>
            </a:r>
            <a:endParaRPr lang="en-US" sz="1100" dirty="0"/>
          </a:p>
        </p:txBody>
      </p:sp>
      <p:sp>
        <p:nvSpPr>
          <p:cNvPr id="17" name="Text 13"/>
          <p:cNvSpPr/>
          <p:nvPr/>
        </p:nvSpPr>
        <p:spPr>
          <a:xfrm>
            <a:off x="6446520" y="3429000"/>
            <a:ext cx="4206240" cy="411480"/>
          </a:xfrm>
          <a:prstGeom prst="rect">
            <a:avLst/>
          </a:prstGeom>
          <a:noFill/>
          <a:ln/>
        </p:spPr>
        <p:txBody>
          <a:bodyPr wrap="square" lIns="0" tIns="0" rIns="0" bIns="0" rtlCol="0" anchor="ctr"/>
          <a:lstStyle/>
          <a:p>
            <a:pPr marL="0" indent="0">
              <a:buNone/>
            </a:pPr>
            <a:r>
              <a:rPr lang="en-US" sz="1000" kern="0" spc="200" dirty="0">
                <a:solidFill>
                  <a:srgbClr val="6B7280"/>
                </a:solidFill>
              </a:rPr>
              <a:t>n  </a:t>
            </a:r>
            <a:r>
              <a:rPr lang="en-US" sz="1200" b="1" dirty="0">
                <a:solidFill>
                  <a:srgbClr val="1F2937"/>
                </a:solidFill>
              </a:rPr>
              <a:t>854</a:t>
            </a:r>
            <a:r>
              <a:rPr lang="en-US" sz="1000" kern="0" spc="200" dirty="0">
                <a:solidFill>
                  <a:srgbClr val="6B7280"/>
                </a:solidFill>
              </a:rPr>
              <a:t>    inc  </a:t>
            </a:r>
            <a:r>
              <a:rPr lang="en-US" sz="1200" b="1" dirty="0">
                <a:solidFill>
                  <a:srgbClr val="1F2937"/>
                </a:solidFill>
              </a:rPr>
              <a:t>$67,477</a:t>
            </a:r>
            <a:r>
              <a:rPr lang="en-US" sz="1000" kern="0" spc="200" dirty="0">
                <a:solidFill>
                  <a:srgbClr val="6B7280"/>
                </a:solidFill>
              </a:rPr>
              <a:t>    spend  </a:t>
            </a:r>
            <a:r>
              <a:rPr lang="en-US" sz="1200" b="1" dirty="0">
                <a:solidFill>
                  <a:srgbClr val="1F2937"/>
                </a:solidFill>
              </a:rPr>
              <a:t>$1,036</a:t>
            </a:r>
            <a:endParaRPr lang="en-US" sz="1000" dirty="0"/>
          </a:p>
        </p:txBody>
      </p:sp>
      <p:sp>
        <p:nvSpPr>
          <p:cNvPr id="18" name="Text 14"/>
          <p:cNvSpPr/>
          <p:nvPr/>
        </p:nvSpPr>
        <p:spPr>
          <a:xfrm>
            <a:off x="10424160" y="2971800"/>
            <a:ext cx="1280160" cy="731520"/>
          </a:xfrm>
          <a:prstGeom prst="rect">
            <a:avLst/>
          </a:prstGeom>
          <a:noFill/>
          <a:ln/>
        </p:spPr>
        <p:txBody>
          <a:bodyPr wrap="square" lIns="0" tIns="0" rIns="0" bIns="0" rtlCol="0" anchor="ctr"/>
          <a:lstStyle/>
          <a:p>
            <a:pPr marL="0" indent="0" algn="r">
              <a:buNone/>
            </a:pPr>
            <a:r>
              <a:rPr lang="en-US" sz="2600" b="1" dirty="0">
                <a:solidFill>
                  <a:srgbClr val="0E7C7B"/>
                </a:solidFill>
                <a:latin typeface="Calibri" pitchFamily="34" charset="0"/>
                <a:ea typeface="Calibri" pitchFamily="34" charset="-122"/>
                <a:cs typeface="Calibri" pitchFamily="34" charset="-120"/>
              </a:rPr>
              <a:t>13.2%</a:t>
            </a:r>
            <a:endParaRPr lang="en-US" sz="2600" dirty="0"/>
          </a:p>
        </p:txBody>
      </p:sp>
      <p:sp>
        <p:nvSpPr>
          <p:cNvPr id="19" name="Text 15"/>
          <p:cNvSpPr/>
          <p:nvPr/>
        </p:nvSpPr>
        <p:spPr>
          <a:xfrm>
            <a:off x="10424160" y="3611880"/>
            <a:ext cx="1280160" cy="228600"/>
          </a:xfrm>
          <a:prstGeom prst="rect">
            <a:avLst/>
          </a:prstGeom>
          <a:noFill/>
          <a:ln/>
        </p:spPr>
        <p:txBody>
          <a:bodyPr wrap="square" lIns="0" tIns="0" rIns="0" bIns="0" rtlCol="0" anchor="ctr"/>
          <a:lstStyle/>
          <a:p>
            <a:pPr marL="0" indent="0" algn="r">
              <a:buNone/>
            </a:pPr>
            <a:r>
              <a:rPr lang="en-US" sz="900" kern="0" spc="200" dirty="0">
                <a:solidFill>
                  <a:srgbClr val="6B7280"/>
                </a:solidFill>
                <a:latin typeface="Calibri" pitchFamily="34" charset="0"/>
                <a:ea typeface="Calibri" pitchFamily="34" charset="-122"/>
                <a:cs typeface="Calibri" pitchFamily="34" charset="-120"/>
              </a:rPr>
              <a:t>response</a:t>
            </a:r>
            <a:endParaRPr lang="en-US" sz="900" dirty="0"/>
          </a:p>
        </p:txBody>
      </p:sp>
      <p:sp>
        <p:nvSpPr>
          <p:cNvPr id="20" name="Shape 16"/>
          <p:cNvSpPr/>
          <p:nvPr/>
        </p:nvSpPr>
        <p:spPr>
          <a:xfrm>
            <a:off x="6309360" y="4023360"/>
            <a:ext cx="5486400" cy="1143000"/>
          </a:xfrm>
          <a:prstGeom prst="rect">
            <a:avLst/>
          </a:prstGeom>
          <a:solidFill>
            <a:srgbClr val="FFFFFF"/>
          </a:solidFill>
          <a:ln w="12700">
            <a:solidFill>
              <a:srgbClr val="E2E8F0"/>
            </a:solidFill>
            <a:prstDash val="solid"/>
          </a:ln>
        </p:spPr>
      </p:sp>
      <p:sp>
        <p:nvSpPr>
          <p:cNvPr id="21" name="Shape 17"/>
          <p:cNvSpPr/>
          <p:nvPr/>
        </p:nvSpPr>
        <p:spPr>
          <a:xfrm>
            <a:off x="6309360" y="4023360"/>
            <a:ext cx="73152" cy="1143000"/>
          </a:xfrm>
          <a:prstGeom prst="rect">
            <a:avLst/>
          </a:prstGeom>
          <a:solidFill>
            <a:srgbClr val="0891B2"/>
          </a:solidFill>
          <a:ln w="12700">
            <a:solidFill>
              <a:srgbClr val="0891B2"/>
            </a:solidFill>
            <a:prstDash val="solid"/>
          </a:ln>
        </p:spPr>
      </p:sp>
      <p:sp>
        <p:nvSpPr>
          <p:cNvPr id="22" name="Text 18"/>
          <p:cNvSpPr/>
          <p:nvPr/>
        </p:nvSpPr>
        <p:spPr>
          <a:xfrm>
            <a:off x="6446520" y="4069080"/>
            <a:ext cx="1828800" cy="320040"/>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Cluster 3</a:t>
            </a:r>
            <a:endParaRPr lang="en-US" sz="1400" dirty="0"/>
          </a:p>
        </p:txBody>
      </p:sp>
      <p:sp>
        <p:nvSpPr>
          <p:cNvPr id="23" name="Text 19"/>
          <p:cNvSpPr/>
          <p:nvPr/>
        </p:nvSpPr>
        <p:spPr>
          <a:xfrm>
            <a:off x="6446520" y="4389120"/>
            <a:ext cx="3200400" cy="274320"/>
          </a:xfrm>
          <a:prstGeom prst="rect">
            <a:avLst/>
          </a:prstGeom>
          <a:noFill/>
          <a:ln/>
        </p:spPr>
        <p:txBody>
          <a:bodyPr wrap="square" lIns="0" tIns="0" rIns="0" bIns="0" rtlCol="0" anchor="ctr"/>
          <a:lstStyle/>
          <a:p>
            <a:pPr marL="0" indent="0">
              <a:buNone/>
            </a:pPr>
            <a:r>
              <a:rPr lang="en-US" sz="1100" b="1" i="1" dirty="0">
                <a:solidFill>
                  <a:srgbClr val="0891B2"/>
                </a:solidFill>
                <a:latin typeface="Calibri" pitchFamily="34" charset="0"/>
                <a:ea typeface="Calibri" pitchFamily="34" charset="-122"/>
                <a:cs typeface="Calibri" pitchFamily="34" charset="-120"/>
              </a:rPr>
              <a:t>Lower income, modest spend</a:t>
            </a:r>
            <a:endParaRPr lang="en-US" sz="1100" dirty="0"/>
          </a:p>
        </p:txBody>
      </p:sp>
      <p:sp>
        <p:nvSpPr>
          <p:cNvPr id="24" name="Text 20"/>
          <p:cNvSpPr/>
          <p:nvPr/>
        </p:nvSpPr>
        <p:spPr>
          <a:xfrm>
            <a:off x="6446520" y="4709160"/>
            <a:ext cx="4206240" cy="411480"/>
          </a:xfrm>
          <a:prstGeom prst="rect">
            <a:avLst/>
          </a:prstGeom>
          <a:noFill/>
          <a:ln/>
        </p:spPr>
        <p:txBody>
          <a:bodyPr wrap="square" lIns="0" tIns="0" rIns="0" bIns="0" rtlCol="0" anchor="ctr"/>
          <a:lstStyle/>
          <a:p>
            <a:pPr marL="0" indent="0">
              <a:buNone/>
            </a:pPr>
            <a:r>
              <a:rPr lang="en-US" sz="1000" kern="0" spc="200" dirty="0">
                <a:solidFill>
                  <a:srgbClr val="6B7280"/>
                </a:solidFill>
              </a:rPr>
              <a:t>n  </a:t>
            </a:r>
            <a:r>
              <a:rPr lang="en-US" sz="1200" b="1" dirty="0">
                <a:solidFill>
                  <a:srgbClr val="1F2937"/>
                </a:solidFill>
              </a:rPr>
              <a:t>604</a:t>
            </a:r>
            <a:r>
              <a:rPr lang="en-US" sz="1000" kern="0" spc="200" dirty="0">
                <a:solidFill>
                  <a:srgbClr val="6B7280"/>
                </a:solidFill>
              </a:rPr>
              <a:t>    inc  </a:t>
            </a:r>
            <a:r>
              <a:rPr lang="en-US" sz="1200" b="1" dirty="0">
                <a:solidFill>
                  <a:srgbClr val="1F2937"/>
                </a:solidFill>
              </a:rPr>
              <a:t>$35,603</a:t>
            </a:r>
            <a:r>
              <a:rPr lang="en-US" sz="1000" kern="0" spc="200" dirty="0">
                <a:solidFill>
                  <a:srgbClr val="6B7280"/>
                </a:solidFill>
              </a:rPr>
              <a:t>    spend  </a:t>
            </a:r>
            <a:r>
              <a:rPr lang="en-US" sz="1200" b="1" dirty="0">
                <a:solidFill>
                  <a:srgbClr val="1F2937"/>
                </a:solidFill>
              </a:rPr>
              <a:t>$131</a:t>
            </a:r>
            <a:endParaRPr lang="en-US" sz="1000" dirty="0"/>
          </a:p>
        </p:txBody>
      </p:sp>
      <p:sp>
        <p:nvSpPr>
          <p:cNvPr id="25" name="Text 21"/>
          <p:cNvSpPr/>
          <p:nvPr/>
        </p:nvSpPr>
        <p:spPr>
          <a:xfrm>
            <a:off x="10424160" y="4251960"/>
            <a:ext cx="1280160" cy="731520"/>
          </a:xfrm>
          <a:prstGeom prst="rect">
            <a:avLst/>
          </a:prstGeom>
          <a:noFill/>
          <a:ln/>
        </p:spPr>
        <p:txBody>
          <a:bodyPr wrap="square" lIns="0" tIns="0" rIns="0" bIns="0" rtlCol="0" anchor="ctr"/>
          <a:lstStyle/>
          <a:p>
            <a:pPr marL="0" indent="0" algn="r">
              <a:buNone/>
            </a:pPr>
            <a:r>
              <a:rPr lang="en-US" sz="2600" b="1" dirty="0">
                <a:solidFill>
                  <a:srgbClr val="0891B2"/>
                </a:solidFill>
                <a:latin typeface="Calibri" pitchFamily="34" charset="0"/>
                <a:ea typeface="Calibri" pitchFamily="34" charset="-122"/>
                <a:cs typeface="Calibri" pitchFamily="34" charset="-120"/>
              </a:rPr>
              <a:t>14.4%</a:t>
            </a:r>
            <a:endParaRPr lang="en-US" sz="2600" dirty="0"/>
          </a:p>
        </p:txBody>
      </p:sp>
      <p:sp>
        <p:nvSpPr>
          <p:cNvPr id="26" name="Text 22"/>
          <p:cNvSpPr/>
          <p:nvPr/>
        </p:nvSpPr>
        <p:spPr>
          <a:xfrm>
            <a:off x="10424160" y="4892040"/>
            <a:ext cx="1280160" cy="228600"/>
          </a:xfrm>
          <a:prstGeom prst="rect">
            <a:avLst/>
          </a:prstGeom>
          <a:noFill/>
          <a:ln/>
        </p:spPr>
        <p:txBody>
          <a:bodyPr wrap="square" lIns="0" tIns="0" rIns="0" bIns="0" rtlCol="0" anchor="ctr"/>
          <a:lstStyle/>
          <a:p>
            <a:pPr marL="0" indent="0" algn="r">
              <a:buNone/>
            </a:pPr>
            <a:r>
              <a:rPr lang="en-US" sz="900" kern="0" spc="200" dirty="0">
                <a:solidFill>
                  <a:srgbClr val="6B7280"/>
                </a:solidFill>
                <a:latin typeface="Calibri" pitchFamily="34" charset="0"/>
                <a:ea typeface="Calibri" pitchFamily="34" charset="-122"/>
                <a:cs typeface="Calibri" pitchFamily="34" charset="-120"/>
              </a:rPr>
              <a:t>response</a:t>
            </a:r>
            <a:endParaRPr lang="en-US" sz="900" dirty="0"/>
          </a:p>
        </p:txBody>
      </p:sp>
      <p:sp>
        <p:nvSpPr>
          <p:cNvPr id="27" name="Shape 23"/>
          <p:cNvSpPr/>
          <p:nvPr/>
        </p:nvSpPr>
        <p:spPr>
          <a:xfrm>
            <a:off x="6309360" y="5303520"/>
            <a:ext cx="5486400" cy="1143000"/>
          </a:xfrm>
          <a:prstGeom prst="rect">
            <a:avLst/>
          </a:prstGeom>
          <a:solidFill>
            <a:srgbClr val="FFFFFF"/>
          </a:solidFill>
          <a:ln w="12700">
            <a:solidFill>
              <a:srgbClr val="E2E8F0"/>
            </a:solidFill>
            <a:prstDash val="solid"/>
          </a:ln>
        </p:spPr>
      </p:sp>
      <p:sp>
        <p:nvSpPr>
          <p:cNvPr id="28" name="Shape 24"/>
          <p:cNvSpPr/>
          <p:nvPr/>
        </p:nvSpPr>
        <p:spPr>
          <a:xfrm>
            <a:off x="6309360" y="5303520"/>
            <a:ext cx="73152" cy="1143000"/>
          </a:xfrm>
          <a:prstGeom prst="rect">
            <a:avLst/>
          </a:prstGeom>
          <a:solidFill>
            <a:srgbClr val="6B7280"/>
          </a:solidFill>
          <a:ln w="12700">
            <a:solidFill>
              <a:srgbClr val="6B7280"/>
            </a:solidFill>
            <a:prstDash val="solid"/>
          </a:ln>
        </p:spPr>
      </p:sp>
      <p:sp>
        <p:nvSpPr>
          <p:cNvPr id="29" name="Text 25"/>
          <p:cNvSpPr/>
          <p:nvPr/>
        </p:nvSpPr>
        <p:spPr>
          <a:xfrm>
            <a:off x="6446520" y="5349240"/>
            <a:ext cx="1828800" cy="320040"/>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Cluster 4</a:t>
            </a:r>
            <a:endParaRPr lang="en-US" sz="1400" dirty="0"/>
          </a:p>
        </p:txBody>
      </p:sp>
      <p:sp>
        <p:nvSpPr>
          <p:cNvPr id="30" name="Text 26"/>
          <p:cNvSpPr/>
          <p:nvPr/>
        </p:nvSpPr>
        <p:spPr>
          <a:xfrm>
            <a:off x="6446520" y="5669280"/>
            <a:ext cx="3200400" cy="274320"/>
          </a:xfrm>
          <a:prstGeom prst="rect">
            <a:avLst/>
          </a:prstGeom>
          <a:noFill/>
          <a:ln/>
        </p:spPr>
        <p:txBody>
          <a:bodyPr wrap="square" lIns="0" tIns="0" rIns="0" bIns="0" rtlCol="0" anchor="ctr"/>
          <a:lstStyle/>
          <a:p>
            <a:pPr marL="0" indent="0">
              <a:buNone/>
            </a:pPr>
            <a:r>
              <a:rPr lang="en-US" sz="1100" b="1" i="1" dirty="0">
                <a:solidFill>
                  <a:srgbClr val="6B7280"/>
                </a:solidFill>
                <a:latin typeface="Calibri" pitchFamily="34" charset="0"/>
                <a:ea typeface="Calibri" pitchFamily="34" charset="-122"/>
                <a:cs typeface="Calibri" pitchFamily="34" charset="-120"/>
              </a:rPr>
              <a:t>Disengaged</a:t>
            </a:r>
            <a:endParaRPr lang="en-US" sz="1100" dirty="0"/>
          </a:p>
        </p:txBody>
      </p:sp>
      <p:sp>
        <p:nvSpPr>
          <p:cNvPr id="31" name="Text 27"/>
          <p:cNvSpPr/>
          <p:nvPr/>
        </p:nvSpPr>
        <p:spPr>
          <a:xfrm>
            <a:off x="6446520" y="5989320"/>
            <a:ext cx="4206240" cy="411480"/>
          </a:xfrm>
          <a:prstGeom prst="rect">
            <a:avLst/>
          </a:prstGeom>
          <a:noFill/>
          <a:ln/>
        </p:spPr>
        <p:txBody>
          <a:bodyPr wrap="square" lIns="0" tIns="0" rIns="0" bIns="0" rtlCol="0" anchor="ctr"/>
          <a:lstStyle/>
          <a:p>
            <a:pPr marL="0" indent="0">
              <a:buNone/>
            </a:pPr>
            <a:r>
              <a:rPr lang="en-US" sz="1000" kern="0" spc="200" dirty="0">
                <a:solidFill>
                  <a:srgbClr val="6B7280"/>
                </a:solidFill>
              </a:rPr>
              <a:t>n  </a:t>
            </a:r>
            <a:r>
              <a:rPr lang="en-US" sz="1200" b="1" dirty="0">
                <a:solidFill>
                  <a:srgbClr val="1F2937"/>
                </a:solidFill>
              </a:rPr>
              <a:t>593</a:t>
            </a:r>
            <a:r>
              <a:rPr lang="en-US" sz="1000" kern="0" spc="200" dirty="0">
                <a:solidFill>
                  <a:srgbClr val="6B7280"/>
                </a:solidFill>
              </a:rPr>
              <a:t>    inc  </a:t>
            </a:r>
            <a:r>
              <a:rPr lang="en-US" sz="1200" b="1" dirty="0">
                <a:solidFill>
                  <a:srgbClr val="1F2937"/>
                </a:solidFill>
              </a:rPr>
              <a:t>$37,576</a:t>
            </a:r>
            <a:r>
              <a:rPr lang="en-US" sz="1000" kern="0" spc="200" dirty="0">
                <a:solidFill>
                  <a:srgbClr val="6B7280"/>
                </a:solidFill>
              </a:rPr>
              <a:t>    spend  </a:t>
            </a:r>
            <a:r>
              <a:rPr lang="en-US" sz="1200" b="1" dirty="0">
                <a:solidFill>
                  <a:srgbClr val="1F2937"/>
                </a:solidFill>
              </a:rPr>
              <a:t>$148</a:t>
            </a:r>
            <a:endParaRPr lang="en-US" sz="1000" dirty="0"/>
          </a:p>
        </p:txBody>
      </p:sp>
      <p:sp>
        <p:nvSpPr>
          <p:cNvPr id="32" name="Text 28"/>
          <p:cNvSpPr/>
          <p:nvPr/>
        </p:nvSpPr>
        <p:spPr>
          <a:xfrm>
            <a:off x="10424160" y="5532120"/>
            <a:ext cx="1280160" cy="731520"/>
          </a:xfrm>
          <a:prstGeom prst="rect">
            <a:avLst/>
          </a:prstGeom>
          <a:noFill/>
          <a:ln/>
        </p:spPr>
        <p:txBody>
          <a:bodyPr wrap="square" lIns="0" tIns="0" rIns="0" bIns="0" rtlCol="0" anchor="ctr"/>
          <a:lstStyle/>
          <a:p>
            <a:pPr marL="0" indent="0" algn="r">
              <a:buNone/>
            </a:pPr>
            <a:r>
              <a:rPr lang="en-US" sz="2600" b="1" dirty="0">
                <a:solidFill>
                  <a:srgbClr val="6B7280"/>
                </a:solidFill>
                <a:latin typeface="Calibri" pitchFamily="34" charset="0"/>
                <a:ea typeface="Calibri" pitchFamily="34" charset="-122"/>
                <a:cs typeface="Calibri" pitchFamily="34" charset="-120"/>
              </a:rPr>
              <a:t>4.2%</a:t>
            </a:r>
            <a:endParaRPr lang="en-US" sz="2600" dirty="0"/>
          </a:p>
        </p:txBody>
      </p:sp>
      <p:sp>
        <p:nvSpPr>
          <p:cNvPr id="33" name="Text 29"/>
          <p:cNvSpPr/>
          <p:nvPr/>
        </p:nvSpPr>
        <p:spPr>
          <a:xfrm>
            <a:off x="10424160" y="6172200"/>
            <a:ext cx="1280160" cy="228600"/>
          </a:xfrm>
          <a:prstGeom prst="rect">
            <a:avLst/>
          </a:prstGeom>
          <a:noFill/>
          <a:ln/>
        </p:spPr>
        <p:txBody>
          <a:bodyPr wrap="square" lIns="0" tIns="0" rIns="0" bIns="0" rtlCol="0" anchor="ctr"/>
          <a:lstStyle/>
          <a:p>
            <a:pPr marL="0" indent="0" algn="r">
              <a:buNone/>
            </a:pPr>
            <a:r>
              <a:rPr lang="en-US" sz="900" kern="0" spc="200" dirty="0">
                <a:solidFill>
                  <a:srgbClr val="6B7280"/>
                </a:solidFill>
                <a:latin typeface="Calibri" pitchFamily="34" charset="0"/>
                <a:ea typeface="Calibri" pitchFamily="34" charset="-122"/>
                <a:cs typeface="Calibri" pitchFamily="34" charset="-120"/>
              </a:rPr>
              <a:t>response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155680" cy="274320"/>
          </a:xfrm>
          <a:prstGeom prst="rect">
            <a:avLst/>
          </a:prstGeom>
          <a:noFill/>
          <a:ln/>
        </p:spPr>
        <p:txBody>
          <a:bodyPr wrap="square" lIns="0" tIns="0" rIns="0" bIns="0" rtlCol="0" anchor="ctr"/>
          <a:lstStyle/>
          <a:p>
            <a:pPr marL="0" indent="0">
              <a:buNone/>
            </a:pPr>
            <a:r>
              <a:rPr lang="en-US" sz="1200" b="1" kern="0" spc="400" dirty="0">
                <a:solidFill>
                  <a:srgbClr val="028090"/>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640080"/>
            <a:ext cx="11155680" cy="64008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Model Comparison</a:t>
            </a:r>
            <a:endParaRPr lang="en-US" sz="3200" dirty="0"/>
          </a:p>
        </p:txBody>
      </p:sp>
      <p:pic>
        <p:nvPicPr>
          <p:cNvPr id="4" name="Image 0" descr="figures/image19.png"/>
          <p:cNvPicPr>
            <a:picLocks noChangeAspect="1"/>
          </p:cNvPicPr>
          <p:nvPr/>
        </p:nvPicPr>
        <p:blipFill>
          <a:blip r:embed="rId3"/>
          <a:stretch>
            <a:fillRect/>
          </a:stretch>
        </p:blipFill>
        <p:spPr>
          <a:xfrm>
            <a:off x="548640" y="1554480"/>
            <a:ext cx="5943600" cy="3200400"/>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4937760"/>
          <a:ext cx="5943600" cy="1645920"/>
        </p:xfrm>
        <a:graphic>
          <a:graphicData uri="http://schemas.openxmlformats.org/drawingml/2006/table">
            <a:tbl>
              <a:tblPr/>
              <a:tblGrid>
                <a:gridCol w="210312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tblGrid>
              <a:tr h="411480">
                <a:tc>
                  <a:txBody>
                    <a:bodyPr/>
                    <a:lstStyle/>
                    <a:p>
                      <a:pPr marL="0" indent="0" algn="l">
                        <a:buNone/>
                      </a:pPr>
                      <a:r>
                        <a:rPr lang="en-US" sz="1200" b="1" dirty="0">
                          <a:solidFill>
                            <a:srgbClr val="FFFFFF"/>
                          </a:solidFill>
                        </a:rPr>
                        <a:t>Model</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3A3C"/>
                    </a:solidFill>
                  </a:tcPr>
                </a:tc>
                <a:tc>
                  <a:txBody>
                    <a:bodyPr/>
                    <a:lstStyle/>
                    <a:p>
                      <a:pPr marL="0" indent="0" algn="ctr">
                        <a:buNone/>
                      </a:pPr>
                      <a:r>
                        <a:rPr lang="en-US" sz="1200" b="1" dirty="0">
                          <a:solidFill>
                            <a:srgbClr val="FFFFFF"/>
                          </a:solidFill>
                        </a:rPr>
                        <a:t>Accuracy</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3A3C"/>
                    </a:solidFill>
                  </a:tcPr>
                </a:tc>
                <a:tc>
                  <a:txBody>
                    <a:bodyPr/>
                    <a:lstStyle/>
                    <a:p>
                      <a:pPr marL="0" indent="0" algn="ctr">
                        <a:buNone/>
                      </a:pPr>
                      <a:r>
                        <a:rPr lang="en-US" sz="1200" b="1" dirty="0">
                          <a:solidFill>
                            <a:srgbClr val="FFFFFF"/>
                          </a:solidFill>
                        </a:rPr>
                        <a:t>F1</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3A3C"/>
                    </a:solidFill>
                  </a:tcPr>
                </a:tc>
                <a:tc>
                  <a:txBody>
                    <a:bodyPr/>
                    <a:lstStyle/>
                    <a:p>
                      <a:pPr marL="0" indent="0" algn="ctr">
                        <a:buNone/>
                      </a:pPr>
                      <a:r>
                        <a:rPr lang="en-US" sz="1200" b="1" dirty="0">
                          <a:solidFill>
                            <a:srgbClr val="FFFFFF"/>
                          </a:solidFill>
                        </a:rPr>
                        <a:t>Sens.</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3A3C"/>
                    </a:solidFill>
                  </a:tcPr>
                </a:tc>
                <a:tc>
                  <a:txBody>
                    <a:bodyPr/>
                    <a:lstStyle/>
                    <a:p>
                      <a:pPr marL="0" indent="0" algn="ctr">
                        <a:buNone/>
                      </a:pPr>
                      <a:r>
                        <a:rPr lang="en-US" sz="1200" b="1" dirty="0">
                          <a:solidFill>
                            <a:srgbClr val="FFFFFF"/>
                          </a:solidFill>
                        </a:rPr>
                        <a:t>Spec.</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3A3C"/>
                    </a:solidFill>
                  </a:tcPr>
                </a:tc>
                <a:extLst>
                  <a:ext uri="{0D108BD9-81ED-4DB2-BD59-A6C34878D82A}">
                    <a16:rowId xmlns:a16="http://schemas.microsoft.com/office/drawing/2014/main" val="10000"/>
                  </a:ext>
                </a:extLst>
              </a:tr>
              <a:tr h="411480">
                <a:tc>
                  <a:txBody>
                    <a:bodyPr/>
                    <a:lstStyle/>
                    <a:p>
                      <a:pPr marL="0" indent="0" algn="l">
                        <a:buNone/>
                      </a:pPr>
                      <a:r>
                        <a:rPr lang="en-US" sz="1200" b="1" dirty="0">
                          <a:solidFill>
                            <a:srgbClr val="1F2937"/>
                          </a:solidFill>
                        </a:rPr>
                        <a:t>Decision Tree</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AF9"/>
                    </a:solidFill>
                  </a:tcPr>
                </a:tc>
                <a:tc>
                  <a:txBody>
                    <a:bodyPr/>
                    <a:lstStyle/>
                    <a:p>
                      <a:pPr marL="0" indent="0" algn="ctr">
                        <a:buNone/>
                      </a:pPr>
                      <a:r>
                        <a:rPr lang="en-US" sz="1200" dirty="0">
                          <a:solidFill>
                            <a:srgbClr val="1F2937"/>
                          </a:solidFill>
                        </a:rPr>
                        <a:t>0.853</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AF9"/>
                    </a:solidFill>
                  </a:tcPr>
                </a:tc>
                <a:tc>
                  <a:txBody>
                    <a:bodyPr/>
                    <a:lstStyle/>
                    <a:p>
                      <a:pPr marL="0" indent="0" algn="ctr">
                        <a:buNone/>
                      </a:pPr>
                      <a:r>
                        <a:rPr lang="en-US" sz="1200" b="1" dirty="0">
                          <a:solidFill>
                            <a:srgbClr val="028090"/>
                          </a:solidFill>
                        </a:rPr>
                        <a:t>0.465</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AF9"/>
                    </a:solidFill>
                  </a:tcPr>
                </a:tc>
                <a:tc>
                  <a:txBody>
                    <a:bodyPr/>
                    <a:lstStyle/>
                    <a:p>
                      <a:pPr marL="0" indent="0" algn="ctr">
                        <a:buNone/>
                      </a:pPr>
                      <a:r>
                        <a:rPr lang="en-US" sz="1200" dirty="0">
                          <a:solidFill>
                            <a:srgbClr val="1F2937"/>
                          </a:solidFill>
                        </a:rPr>
                        <a:t>0.43</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AF9"/>
                    </a:solidFill>
                  </a:tcPr>
                </a:tc>
                <a:tc>
                  <a:txBody>
                    <a:bodyPr/>
                    <a:lstStyle/>
                    <a:p>
                      <a:pPr marL="0" indent="0" algn="ctr">
                        <a:buNone/>
                      </a:pPr>
                      <a:r>
                        <a:rPr lang="en-US" sz="1200" dirty="0">
                          <a:solidFill>
                            <a:srgbClr val="1F2937"/>
                          </a:solidFill>
                        </a:rPr>
                        <a:t>0.93</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AF9"/>
                    </a:solidFill>
                  </a:tcPr>
                </a:tc>
                <a:extLst>
                  <a:ext uri="{0D108BD9-81ED-4DB2-BD59-A6C34878D82A}">
                    <a16:rowId xmlns:a16="http://schemas.microsoft.com/office/drawing/2014/main" val="10001"/>
                  </a:ext>
                </a:extLst>
              </a:tr>
              <a:tr h="411480">
                <a:tc>
                  <a:txBody>
                    <a:bodyPr/>
                    <a:lstStyle/>
                    <a:p>
                      <a:pPr marL="0" indent="0" algn="l">
                        <a:buNone/>
                      </a:pPr>
                      <a:r>
                        <a:rPr lang="en-US" sz="1200" b="1" dirty="0">
                          <a:solidFill>
                            <a:srgbClr val="1F2937"/>
                          </a:solidFill>
                        </a:rPr>
                        <a:t>KNN</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7"/>
                          </a:solidFill>
                        </a:rPr>
                        <a:t>0.858</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7"/>
                          </a:solidFill>
                        </a:rPr>
                        <a:t>0.296</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7"/>
                          </a:solidFill>
                        </a:rPr>
                        <a:t>0.20</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7"/>
                          </a:solidFill>
                        </a:rPr>
                        <a:t>0.97</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lgn="l">
                        <a:buNone/>
                      </a:pPr>
                      <a:r>
                        <a:rPr lang="en-US" sz="1200" b="1" dirty="0">
                          <a:solidFill>
                            <a:srgbClr val="1F2937"/>
                          </a:solidFill>
                        </a:rPr>
                        <a:t>Logistic Regression</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7"/>
                          </a:solidFill>
                        </a:rPr>
                        <a:t>0.873</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7"/>
                          </a:solidFill>
                        </a:rPr>
                        <a:t>0.444</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7"/>
                          </a:solidFill>
                        </a:rPr>
                        <a:t>0.34</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7"/>
                          </a:solidFill>
                        </a:rPr>
                        <a:t>0.97</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2"/>
          <p:cNvSpPr/>
          <p:nvPr/>
        </p:nvSpPr>
        <p:spPr>
          <a:xfrm>
            <a:off x="6766560" y="1554480"/>
            <a:ext cx="5029200" cy="4846320"/>
          </a:xfrm>
          <a:prstGeom prst="rect">
            <a:avLst/>
          </a:prstGeom>
          <a:solidFill>
            <a:srgbClr val="0B3A3C"/>
          </a:solidFill>
          <a:ln w="12700">
            <a:solidFill>
              <a:srgbClr val="0B3A3C"/>
            </a:solidFill>
            <a:prstDash val="solid"/>
          </a:ln>
        </p:spPr>
      </p:sp>
      <p:sp>
        <p:nvSpPr>
          <p:cNvPr id="7" name="Text 3"/>
          <p:cNvSpPr/>
          <p:nvPr/>
        </p:nvSpPr>
        <p:spPr>
          <a:xfrm>
            <a:off x="6995160" y="1783080"/>
            <a:ext cx="4572000" cy="320040"/>
          </a:xfrm>
          <a:prstGeom prst="rect">
            <a:avLst/>
          </a:prstGeom>
          <a:noFill/>
          <a:ln/>
        </p:spPr>
        <p:txBody>
          <a:bodyPr wrap="square" lIns="0" tIns="0" rIns="0" bIns="0" rtlCol="0" anchor="ctr"/>
          <a:lstStyle/>
          <a:p>
            <a:pPr marL="0" indent="0">
              <a:buNone/>
            </a:pPr>
            <a:r>
              <a:rPr lang="en-US" sz="1100" b="1" kern="0" spc="300" dirty="0">
                <a:solidFill>
                  <a:srgbClr val="00A896"/>
                </a:solidFill>
                <a:latin typeface="Calibri" pitchFamily="34" charset="0"/>
                <a:ea typeface="Calibri" pitchFamily="34" charset="-122"/>
                <a:cs typeface="Calibri" pitchFamily="34" charset="-120"/>
              </a:rPr>
              <a:t>WINNER BY F1 SCORE</a:t>
            </a:r>
            <a:endParaRPr lang="en-US" sz="1100" dirty="0"/>
          </a:p>
        </p:txBody>
      </p:sp>
      <p:sp>
        <p:nvSpPr>
          <p:cNvPr id="8" name="Text 4"/>
          <p:cNvSpPr/>
          <p:nvPr/>
        </p:nvSpPr>
        <p:spPr>
          <a:xfrm>
            <a:off x="6995160" y="2194560"/>
            <a:ext cx="45720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Decision Tree</a:t>
            </a:r>
            <a:endParaRPr lang="en-US" sz="3200" dirty="0"/>
          </a:p>
        </p:txBody>
      </p:sp>
      <p:sp>
        <p:nvSpPr>
          <p:cNvPr id="9" name="Text 5"/>
          <p:cNvSpPr/>
          <p:nvPr/>
        </p:nvSpPr>
        <p:spPr>
          <a:xfrm>
            <a:off x="6995160" y="2788920"/>
            <a:ext cx="4572000" cy="365760"/>
          </a:xfrm>
          <a:prstGeom prst="rect">
            <a:avLst/>
          </a:prstGeom>
          <a:noFill/>
          <a:ln/>
        </p:spPr>
        <p:txBody>
          <a:bodyPr wrap="square" lIns="0" tIns="0" rIns="0" bIns="0" rtlCol="0" anchor="ctr"/>
          <a:lstStyle/>
          <a:p>
            <a:pPr marL="0" indent="0">
              <a:buNone/>
            </a:pPr>
            <a:r>
              <a:rPr lang="en-US" sz="1800" b="1" dirty="0">
                <a:solidFill>
                  <a:srgbClr val="00A896"/>
                </a:solidFill>
                <a:latin typeface="Calibri" pitchFamily="34" charset="0"/>
                <a:ea typeface="Calibri" pitchFamily="34" charset="-122"/>
                <a:cs typeface="Calibri" pitchFamily="34" charset="-120"/>
              </a:rPr>
              <a:t>F1 = 0.465</a:t>
            </a:r>
            <a:endParaRPr lang="en-US" sz="1800" dirty="0"/>
          </a:p>
        </p:txBody>
      </p:sp>
      <p:sp>
        <p:nvSpPr>
          <p:cNvPr id="10" name="Shape 6"/>
          <p:cNvSpPr/>
          <p:nvPr/>
        </p:nvSpPr>
        <p:spPr>
          <a:xfrm>
            <a:off x="6995160" y="3246120"/>
            <a:ext cx="4389120" cy="0"/>
          </a:xfrm>
          <a:prstGeom prst="line">
            <a:avLst/>
          </a:prstGeom>
          <a:noFill/>
          <a:ln w="12700">
            <a:solidFill>
              <a:srgbClr val="00A896"/>
            </a:solidFill>
            <a:prstDash val="solid"/>
          </a:ln>
        </p:spPr>
      </p:sp>
      <p:sp>
        <p:nvSpPr>
          <p:cNvPr id="11" name="Text 7"/>
          <p:cNvSpPr/>
          <p:nvPr/>
        </p:nvSpPr>
        <p:spPr>
          <a:xfrm>
            <a:off x="6995160" y="3429000"/>
            <a:ext cx="4572000" cy="320040"/>
          </a:xfrm>
          <a:prstGeom prst="rect">
            <a:avLst/>
          </a:prstGeom>
          <a:noFill/>
          <a:ln/>
        </p:spPr>
        <p:txBody>
          <a:bodyPr wrap="square" lIns="0" tIns="0" rIns="0" bIns="0" rtlCol="0" anchor="ctr"/>
          <a:lstStyle/>
          <a:p>
            <a:pPr marL="0" indent="0">
              <a:buNone/>
            </a:pPr>
            <a:r>
              <a:rPr lang="en-US" sz="1100" b="1" kern="0" spc="300" dirty="0">
                <a:solidFill>
                  <a:srgbClr val="00A896"/>
                </a:solidFill>
                <a:latin typeface="Calibri" pitchFamily="34" charset="0"/>
                <a:ea typeface="Calibri" pitchFamily="34" charset="-122"/>
                <a:cs typeface="Calibri" pitchFamily="34" charset="-120"/>
              </a:rPr>
              <a:t>WHY F1 AND NOT ACCURACY?</a:t>
            </a:r>
            <a:endParaRPr lang="en-US" sz="1100" dirty="0"/>
          </a:p>
        </p:txBody>
      </p:sp>
      <p:sp>
        <p:nvSpPr>
          <p:cNvPr id="5" name="Text 8"/>
          <p:cNvSpPr/>
          <p:nvPr/>
        </p:nvSpPr>
        <p:spPr>
          <a:xfrm>
            <a:off x="6995160" y="3794760"/>
            <a:ext cx="4572000" cy="2560320"/>
          </a:xfrm>
          <a:prstGeom prst="rect">
            <a:avLst/>
          </a:prstGeom>
          <a:noFill/>
          <a:ln/>
        </p:spPr>
        <p:txBody>
          <a:bodyPr wrap="square" lIns="0" tIns="0" rIns="0" bIns="0" rtlCol="0" anchor="t"/>
          <a:lstStyle/>
          <a:p>
            <a:pPr marL="0" indent="0">
              <a:buNone/>
            </a:pPr>
            <a:r>
              <a:rPr lang="en-US" sz="1300" dirty="0">
                <a:solidFill>
                  <a:srgbClr val="CADCFC"/>
                </a:solidFill>
                <a:latin typeface="Calibri" pitchFamily="34" charset="0"/>
                <a:ea typeface="Calibri" pitchFamily="34" charset="-122"/>
                <a:cs typeface="Calibri" pitchFamily="34" charset="-120"/>
              </a:rPr>
              <a:t>Because 85% of customers said no, a model that predicts no every single time would still score 85% accuracy. F1 balances precision and recall, so it rewards models that actually catch the few who would say yes.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155680" cy="274320"/>
          </a:xfrm>
          <a:prstGeom prst="rect">
            <a:avLst/>
          </a:prstGeom>
          <a:noFill/>
          <a:ln/>
        </p:spPr>
        <p:txBody>
          <a:bodyPr wrap="square" lIns="0" tIns="0" rIns="0" bIns="0" rtlCol="0" anchor="ctr"/>
          <a:lstStyle/>
          <a:p>
            <a:pPr marL="0" indent="0">
              <a:buNone/>
            </a:pPr>
            <a:r>
              <a:rPr lang="en-US" sz="1200" b="1" kern="0" spc="400" dirty="0">
                <a:solidFill>
                  <a:srgbClr val="028090"/>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640080"/>
            <a:ext cx="11155680" cy="64008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What Actually Drove the Predictions</a:t>
            </a:r>
            <a:endParaRPr lang="en-US" sz="3200" dirty="0"/>
          </a:p>
        </p:txBody>
      </p:sp>
      <p:sp>
        <p:nvSpPr>
          <p:cNvPr id="4" name="Text 2"/>
          <p:cNvSpPr/>
          <p:nvPr/>
        </p:nvSpPr>
        <p:spPr>
          <a:xfrm>
            <a:off x="548640" y="1371600"/>
            <a:ext cx="548640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Decision Tree top features</a:t>
            </a:r>
            <a:endParaRPr lang="en-US" sz="1500" dirty="0"/>
          </a:p>
        </p:txBody>
      </p:sp>
      <p:pic>
        <p:nvPicPr>
          <p:cNvPr id="5" name="Image 0" descr="figures/image15.png"/>
          <p:cNvPicPr>
            <a:picLocks noChangeAspect="1"/>
          </p:cNvPicPr>
          <p:nvPr/>
        </p:nvPicPr>
        <p:blipFill>
          <a:blip r:embed="rId3"/>
          <a:stretch>
            <a:fillRect/>
          </a:stretch>
        </p:blipFill>
        <p:spPr>
          <a:xfrm>
            <a:off x="548640" y="1783080"/>
            <a:ext cx="5486400" cy="3657600"/>
          </a:xfrm>
          <a:prstGeom prst="rect">
            <a:avLst/>
          </a:prstGeom>
        </p:spPr>
      </p:pic>
      <p:sp>
        <p:nvSpPr>
          <p:cNvPr id="6" name="Text 3"/>
          <p:cNvSpPr/>
          <p:nvPr/>
        </p:nvSpPr>
        <p:spPr>
          <a:xfrm>
            <a:off x="6400800" y="1371600"/>
            <a:ext cx="548640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Logistic Regression top features</a:t>
            </a:r>
            <a:endParaRPr lang="en-US" sz="1500" dirty="0"/>
          </a:p>
        </p:txBody>
      </p:sp>
      <p:pic>
        <p:nvPicPr>
          <p:cNvPr id="7" name="Image 1" descr="figures/image18.png"/>
          <p:cNvPicPr>
            <a:picLocks noChangeAspect="1"/>
          </p:cNvPicPr>
          <p:nvPr/>
        </p:nvPicPr>
        <p:blipFill>
          <a:blip r:embed="rId4"/>
          <a:stretch>
            <a:fillRect/>
          </a:stretch>
        </p:blipFill>
        <p:spPr>
          <a:xfrm>
            <a:off x="6400800" y="1783080"/>
            <a:ext cx="5486400" cy="3657600"/>
          </a:xfrm>
          <a:prstGeom prst="rect">
            <a:avLst/>
          </a:prstGeom>
        </p:spPr>
      </p:pic>
      <p:sp>
        <p:nvSpPr>
          <p:cNvPr id="8" name="Shape 4"/>
          <p:cNvSpPr/>
          <p:nvPr/>
        </p:nvSpPr>
        <p:spPr>
          <a:xfrm>
            <a:off x="548640" y="5669280"/>
            <a:ext cx="11247120" cy="914400"/>
          </a:xfrm>
          <a:prstGeom prst="rect">
            <a:avLst/>
          </a:prstGeom>
          <a:solidFill>
            <a:srgbClr val="F1FAF9"/>
          </a:solidFill>
          <a:ln w="12700">
            <a:solidFill>
              <a:srgbClr val="E2E8F0"/>
            </a:solidFill>
            <a:prstDash val="solid"/>
          </a:ln>
        </p:spPr>
      </p:sp>
      <p:sp>
        <p:nvSpPr>
          <p:cNvPr id="9" name="Shape 5"/>
          <p:cNvSpPr/>
          <p:nvPr/>
        </p:nvSpPr>
        <p:spPr>
          <a:xfrm>
            <a:off x="548640" y="5669280"/>
            <a:ext cx="73152" cy="914400"/>
          </a:xfrm>
          <a:prstGeom prst="rect">
            <a:avLst/>
          </a:prstGeom>
          <a:solidFill>
            <a:srgbClr val="F0A202"/>
          </a:solidFill>
          <a:ln w="12700">
            <a:solidFill>
              <a:srgbClr val="F0A202"/>
            </a:solidFill>
            <a:prstDash val="solid"/>
          </a:ln>
        </p:spPr>
      </p:sp>
      <p:sp>
        <p:nvSpPr>
          <p:cNvPr id="10" name="Text 6"/>
          <p:cNvSpPr/>
          <p:nvPr/>
        </p:nvSpPr>
        <p:spPr>
          <a:xfrm>
            <a:off x="777240" y="5760720"/>
            <a:ext cx="10881360" cy="777240"/>
          </a:xfrm>
          <a:prstGeom prst="rect">
            <a:avLst/>
          </a:prstGeom>
          <a:noFill/>
          <a:ln/>
        </p:spPr>
        <p:txBody>
          <a:bodyPr wrap="square" lIns="0" tIns="0" rIns="0" bIns="0" rtlCol="0" anchor="ctr"/>
          <a:lstStyle/>
          <a:p>
            <a:pPr marL="0" indent="0">
              <a:buNone/>
            </a:pPr>
            <a:r>
              <a:rPr lang="en-US" sz="1100" b="1" kern="0" spc="300" dirty="0">
                <a:solidFill>
                  <a:srgbClr val="F0A202"/>
                </a:solidFill>
              </a:rPr>
              <a:t>BOTH MODELS AGREE   </a:t>
            </a:r>
            <a:r>
              <a:rPr lang="en-US" sz="1300" dirty="0">
                <a:solidFill>
                  <a:srgbClr val="1F2937"/>
                </a:solidFill>
              </a:rPr>
              <a:t>TotalSpend, TotalCampaignsAccepted, Recency, MntMeatProducts, and Income consistently rank near the top. Past acceptance is the strongest signal of future acceptance.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155680" cy="274320"/>
          </a:xfrm>
          <a:prstGeom prst="rect">
            <a:avLst/>
          </a:prstGeom>
          <a:noFill/>
          <a:ln/>
        </p:spPr>
        <p:txBody>
          <a:bodyPr wrap="square" lIns="0" tIns="0" rIns="0" bIns="0" rtlCol="0" anchor="ctr"/>
          <a:lstStyle/>
          <a:p>
            <a:pPr marL="0" indent="0">
              <a:buNone/>
            </a:pPr>
            <a:r>
              <a:rPr lang="en-US" sz="1200" b="1" kern="0" spc="400" dirty="0">
                <a:solidFill>
                  <a:srgbClr val="028090"/>
                </a:solidFill>
                <a:latin typeface="Calibri" pitchFamily="34" charset="0"/>
                <a:ea typeface="Calibri" pitchFamily="34" charset="-122"/>
                <a:cs typeface="Calibri" pitchFamily="34" charset="-120"/>
              </a:rPr>
              <a:t>DISCUSSION</a:t>
            </a:r>
            <a:endParaRPr lang="en-US" sz="1200" dirty="0"/>
          </a:p>
        </p:txBody>
      </p:sp>
      <p:sp>
        <p:nvSpPr>
          <p:cNvPr id="3" name="Text 1"/>
          <p:cNvSpPr/>
          <p:nvPr/>
        </p:nvSpPr>
        <p:spPr>
          <a:xfrm>
            <a:off x="548640" y="640080"/>
            <a:ext cx="11155680" cy="64008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Three Things Worth Pausing On</a:t>
            </a:r>
            <a:endParaRPr lang="en-US" sz="3200" dirty="0"/>
          </a:p>
        </p:txBody>
      </p:sp>
      <p:sp>
        <p:nvSpPr>
          <p:cNvPr id="4" name="Shape 2"/>
          <p:cNvSpPr/>
          <p:nvPr/>
        </p:nvSpPr>
        <p:spPr>
          <a:xfrm>
            <a:off x="548640" y="1554480"/>
            <a:ext cx="548640" cy="548640"/>
          </a:xfrm>
          <a:prstGeom prst="ellipse">
            <a:avLst/>
          </a:prstGeom>
          <a:solidFill>
            <a:srgbClr val="028090"/>
          </a:solidFill>
          <a:ln w="12700">
            <a:solidFill>
              <a:srgbClr val="028090"/>
            </a:solidFill>
            <a:prstDash val="solid"/>
          </a:ln>
        </p:spPr>
      </p:sp>
      <p:sp>
        <p:nvSpPr>
          <p:cNvPr id="5" name="Text 3"/>
          <p:cNvSpPr/>
          <p:nvPr/>
        </p:nvSpPr>
        <p:spPr>
          <a:xfrm>
            <a:off x="548640" y="1554480"/>
            <a:ext cx="5486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6" name="Text 4"/>
          <p:cNvSpPr/>
          <p:nvPr/>
        </p:nvSpPr>
        <p:spPr>
          <a:xfrm>
            <a:off x="1280160" y="1463040"/>
            <a:ext cx="10424160" cy="45720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Why does Cluster 1 respond at 57.7% but Cluster 4 at only 4.2%?</a:t>
            </a:r>
            <a:endParaRPr lang="en-US" sz="1600" dirty="0"/>
          </a:p>
        </p:txBody>
      </p:sp>
      <p:sp>
        <p:nvSpPr>
          <p:cNvPr id="7" name="Text 5"/>
          <p:cNvSpPr/>
          <p:nvPr/>
        </p:nvSpPr>
        <p:spPr>
          <a:xfrm>
            <a:off x="1280160" y="1965960"/>
            <a:ext cx="10424160" cy="91440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Cluster 1 customers earn more, spend more, and have accepted past campaigns. Cluster 4 customers have similar income to Cluster 3 but barely spend, which suggests low engagement overall. Income alone does not buy attention.</a:t>
            </a:r>
            <a:endParaRPr lang="en-US" sz="1300" dirty="0"/>
          </a:p>
        </p:txBody>
      </p:sp>
      <p:sp>
        <p:nvSpPr>
          <p:cNvPr id="8" name="Shape 6"/>
          <p:cNvSpPr/>
          <p:nvPr/>
        </p:nvSpPr>
        <p:spPr>
          <a:xfrm>
            <a:off x="548640" y="3154680"/>
            <a:ext cx="548640" cy="548640"/>
          </a:xfrm>
          <a:prstGeom prst="ellipse">
            <a:avLst/>
          </a:prstGeom>
          <a:solidFill>
            <a:srgbClr val="028090"/>
          </a:solidFill>
          <a:ln w="12700">
            <a:solidFill>
              <a:srgbClr val="028090"/>
            </a:solidFill>
            <a:prstDash val="solid"/>
          </a:ln>
        </p:spPr>
      </p:sp>
      <p:sp>
        <p:nvSpPr>
          <p:cNvPr id="9" name="Text 7"/>
          <p:cNvSpPr/>
          <p:nvPr/>
        </p:nvSpPr>
        <p:spPr>
          <a:xfrm>
            <a:off x="548640" y="3154680"/>
            <a:ext cx="5486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0" name="Text 8"/>
          <p:cNvSpPr/>
          <p:nvPr/>
        </p:nvSpPr>
        <p:spPr>
          <a:xfrm>
            <a:off x="1280160" y="3063240"/>
            <a:ext cx="10424160" cy="45720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Why do all three models have high accuracy but low sensitivity?</a:t>
            </a:r>
            <a:endParaRPr lang="en-US" sz="1600" dirty="0"/>
          </a:p>
        </p:txBody>
      </p:sp>
      <p:sp>
        <p:nvSpPr>
          <p:cNvPr id="11" name="Text 9"/>
          <p:cNvSpPr/>
          <p:nvPr/>
        </p:nvSpPr>
        <p:spPr>
          <a:xfrm>
            <a:off x="1280160" y="3566160"/>
            <a:ext cx="10424160" cy="91440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The 15/85 class imbalance pushes models to predict 'No' as the safe default. They get most calls right but miss real responders. This is why we used F1 for model selection instead of accuracy.</a:t>
            </a:r>
            <a:endParaRPr lang="en-US" sz="1300" dirty="0"/>
          </a:p>
        </p:txBody>
      </p:sp>
      <p:sp>
        <p:nvSpPr>
          <p:cNvPr id="12" name="Shape 10"/>
          <p:cNvSpPr/>
          <p:nvPr/>
        </p:nvSpPr>
        <p:spPr>
          <a:xfrm>
            <a:off x="548640" y="4754880"/>
            <a:ext cx="548640" cy="548640"/>
          </a:xfrm>
          <a:prstGeom prst="ellipse">
            <a:avLst/>
          </a:prstGeom>
          <a:solidFill>
            <a:srgbClr val="028090"/>
          </a:solidFill>
          <a:ln w="12700">
            <a:solidFill>
              <a:srgbClr val="028090"/>
            </a:solidFill>
            <a:prstDash val="solid"/>
          </a:ln>
        </p:spPr>
      </p:sp>
      <p:sp>
        <p:nvSpPr>
          <p:cNvPr id="13" name="Text 11"/>
          <p:cNvSpPr/>
          <p:nvPr/>
        </p:nvSpPr>
        <p:spPr>
          <a:xfrm>
            <a:off x="548640" y="4754880"/>
            <a:ext cx="5486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4" name="Text 12"/>
          <p:cNvSpPr/>
          <p:nvPr/>
        </p:nvSpPr>
        <p:spPr>
          <a:xfrm>
            <a:off x="1280160" y="4663440"/>
            <a:ext cx="10424160" cy="45720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Why is Recency the strongest predictor in Logistic Regression?</a:t>
            </a:r>
            <a:endParaRPr lang="en-US" sz="1600" dirty="0"/>
          </a:p>
        </p:txBody>
      </p:sp>
      <p:sp>
        <p:nvSpPr>
          <p:cNvPr id="15" name="Text 13"/>
          <p:cNvSpPr/>
          <p:nvPr/>
        </p:nvSpPr>
        <p:spPr>
          <a:xfrm>
            <a:off x="1280160" y="5166360"/>
            <a:ext cx="10424160" cy="91440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Customers who shopped recently are still actively engaged with the brand. Recent buyers respond. Dormant customers do not, no matter their income.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3A3C"/>
        </a:solidFill>
        <a:effectLst/>
      </p:bgPr>
    </p:bg>
    <p:spTree>
      <p:nvGrpSpPr>
        <p:cNvPr id="1" name=""/>
        <p:cNvGrpSpPr/>
        <p:nvPr/>
      </p:nvGrpSpPr>
      <p:grpSpPr>
        <a:xfrm>
          <a:off x="0" y="0"/>
          <a:ext cx="0" cy="0"/>
          <a:chOff x="0" y="0"/>
          <a:chExt cx="0" cy="0"/>
        </a:xfrm>
      </p:grpSpPr>
      <p:sp>
        <p:nvSpPr>
          <p:cNvPr id="2" name="Shape 0"/>
          <p:cNvSpPr/>
          <p:nvPr/>
        </p:nvSpPr>
        <p:spPr>
          <a:xfrm>
            <a:off x="548640" y="548640"/>
            <a:ext cx="164592" cy="164592"/>
          </a:xfrm>
          <a:prstGeom prst="ellipse">
            <a:avLst/>
          </a:prstGeom>
          <a:solidFill>
            <a:srgbClr val="00A896"/>
          </a:solidFill>
          <a:ln w="12700">
            <a:solidFill>
              <a:srgbClr val="00A896"/>
            </a:solidFill>
            <a:prstDash val="solid"/>
          </a:ln>
        </p:spPr>
      </p:sp>
      <p:sp>
        <p:nvSpPr>
          <p:cNvPr id="3" name="Shape 1"/>
          <p:cNvSpPr/>
          <p:nvPr/>
        </p:nvSpPr>
        <p:spPr>
          <a:xfrm>
            <a:off x="777240" y="548640"/>
            <a:ext cx="164592" cy="164592"/>
          </a:xfrm>
          <a:prstGeom prst="ellipse">
            <a:avLst/>
          </a:prstGeom>
          <a:solidFill>
            <a:srgbClr val="F0A202"/>
          </a:solidFill>
          <a:ln w="12700">
            <a:solidFill>
              <a:srgbClr val="F0A202"/>
            </a:solidFill>
            <a:prstDash val="solid"/>
          </a:ln>
        </p:spPr>
      </p:sp>
      <p:sp>
        <p:nvSpPr>
          <p:cNvPr id="4" name="Shape 2"/>
          <p:cNvSpPr/>
          <p:nvPr/>
        </p:nvSpPr>
        <p:spPr>
          <a:xfrm>
            <a:off x="1005840" y="548640"/>
            <a:ext cx="164592" cy="164592"/>
          </a:xfrm>
          <a:prstGeom prst="ellipse">
            <a:avLst/>
          </a:prstGeom>
          <a:solidFill>
            <a:srgbClr val="FFFFFF"/>
          </a:solidFill>
          <a:ln w="12700">
            <a:solidFill>
              <a:srgbClr val="FFFFFF"/>
            </a:solidFill>
            <a:prstDash val="solid"/>
          </a:ln>
        </p:spPr>
      </p:sp>
      <p:sp>
        <p:nvSpPr>
          <p:cNvPr id="5" name="Text 3"/>
          <p:cNvSpPr/>
          <p:nvPr/>
        </p:nvSpPr>
        <p:spPr>
          <a:xfrm>
            <a:off x="548640" y="914400"/>
            <a:ext cx="9144000" cy="365760"/>
          </a:xfrm>
          <a:prstGeom prst="rect">
            <a:avLst/>
          </a:prstGeom>
          <a:noFill/>
          <a:ln/>
        </p:spPr>
        <p:txBody>
          <a:bodyPr wrap="square" lIns="0" tIns="0" rIns="0" bIns="0" rtlCol="0" anchor="ctr"/>
          <a:lstStyle/>
          <a:p>
            <a:pPr marL="0" indent="0">
              <a:buNone/>
            </a:pPr>
            <a:r>
              <a:rPr lang="en-US" sz="1300" b="1" kern="0" spc="400" dirty="0">
                <a:solidFill>
                  <a:srgbClr val="00A896"/>
                </a:solidFill>
                <a:latin typeface="Calibri" pitchFamily="34" charset="0"/>
                <a:ea typeface="Calibri" pitchFamily="34" charset="-122"/>
                <a:cs typeface="Calibri" pitchFamily="34" charset="-120"/>
              </a:rPr>
              <a:t>CONCLUSION</a:t>
            </a:r>
            <a:endParaRPr lang="en-US" sz="1300" dirty="0"/>
          </a:p>
        </p:txBody>
      </p:sp>
      <p:sp>
        <p:nvSpPr>
          <p:cNvPr id="6" name="Text 4"/>
          <p:cNvSpPr/>
          <p:nvPr/>
        </p:nvSpPr>
        <p:spPr>
          <a:xfrm>
            <a:off x="548640" y="1280160"/>
            <a:ext cx="1115568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What We Found and Where to Go Next</a:t>
            </a:r>
            <a:endParaRPr lang="en-US" sz="3200" dirty="0"/>
          </a:p>
        </p:txBody>
      </p:sp>
      <p:sp>
        <p:nvSpPr>
          <p:cNvPr id="7" name="Text 5"/>
          <p:cNvSpPr/>
          <p:nvPr/>
        </p:nvSpPr>
        <p:spPr>
          <a:xfrm>
            <a:off x="548640" y="2194560"/>
            <a:ext cx="4572000" cy="320040"/>
          </a:xfrm>
          <a:prstGeom prst="rect">
            <a:avLst/>
          </a:prstGeom>
          <a:noFill/>
          <a:ln/>
        </p:spPr>
        <p:txBody>
          <a:bodyPr wrap="square" lIns="0" tIns="0" rIns="0" bIns="0" rtlCol="0" anchor="ctr"/>
          <a:lstStyle/>
          <a:p>
            <a:pPr marL="0" indent="0">
              <a:buNone/>
            </a:pPr>
            <a:r>
              <a:rPr lang="en-US" sz="1100" b="1" kern="0" spc="300" dirty="0">
                <a:solidFill>
                  <a:srgbClr val="00A896"/>
                </a:solidFill>
                <a:latin typeface="Calibri" pitchFamily="34" charset="0"/>
                <a:ea typeface="Calibri" pitchFamily="34" charset="-122"/>
                <a:cs typeface="Calibri" pitchFamily="34" charset="-120"/>
              </a:rPr>
              <a:t>WHAT WE FOUND</a:t>
            </a:r>
            <a:endParaRPr lang="en-US" sz="1100" dirty="0"/>
          </a:p>
        </p:txBody>
      </p:sp>
      <p:sp>
        <p:nvSpPr>
          <p:cNvPr id="8" name="Text 6"/>
          <p:cNvSpPr/>
          <p:nvPr/>
        </p:nvSpPr>
        <p:spPr>
          <a:xfrm>
            <a:off x="640080" y="2606040"/>
            <a:ext cx="5486400" cy="32004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FFFFFF"/>
                </a:solidFill>
              </a:rPr>
              <a:t>Four clean customer segments emerged, and one of them responds at nearly 60%.</a:t>
            </a:r>
            <a:endParaRPr lang="en-US" sz="1400" dirty="0"/>
          </a:p>
          <a:p>
            <a:pPr marL="342900" indent="-342900">
              <a:spcAft>
                <a:spcPts val="1000"/>
              </a:spcAft>
              <a:buSzPct val="100000"/>
              <a:buChar char="▸"/>
            </a:pPr>
            <a:r>
              <a:rPr lang="en-US" sz="1400" dirty="0">
                <a:solidFill>
                  <a:srgbClr val="FFFFFF"/>
                </a:solidFill>
              </a:rPr>
              <a:t>Decision Tree gave the best F1 score (0.465), beating KNN and Logistic Regression for catching real responders.</a:t>
            </a:r>
            <a:endParaRPr lang="en-US" sz="1400" dirty="0"/>
          </a:p>
          <a:p>
            <a:pPr marL="342900" indent="-342900">
              <a:spcAft>
                <a:spcPts val="1000"/>
              </a:spcAft>
              <a:buSzPct val="100000"/>
              <a:buChar char="▸"/>
            </a:pPr>
            <a:r>
              <a:rPr lang="en-US" sz="1400" dirty="0">
                <a:solidFill>
                  <a:srgbClr val="FFFFFF"/>
                </a:solidFill>
              </a:rPr>
              <a:t>Spend, prior campaign acceptance, and recency are the predictors that matter most.</a:t>
            </a:r>
            <a:endParaRPr lang="en-US" sz="1400" dirty="0"/>
          </a:p>
          <a:p>
            <a:pPr marL="342900" indent="-342900">
              <a:buSzPct val="100000"/>
              <a:buChar char="▸"/>
            </a:pPr>
            <a:r>
              <a:rPr lang="en-US" sz="1400" i="1" dirty="0">
                <a:solidFill>
                  <a:srgbClr val="FFFFFF"/>
                </a:solidFill>
              </a:rPr>
              <a:t>Income matters, but engagement matters more.</a:t>
            </a:r>
            <a:endParaRPr lang="en-US" sz="1400" dirty="0"/>
          </a:p>
        </p:txBody>
      </p:sp>
      <p:sp>
        <p:nvSpPr>
          <p:cNvPr id="9" name="Shape 7"/>
          <p:cNvSpPr/>
          <p:nvPr/>
        </p:nvSpPr>
        <p:spPr>
          <a:xfrm>
            <a:off x="6675120" y="2194560"/>
            <a:ext cx="5120640" cy="4114800"/>
          </a:xfrm>
          <a:prstGeom prst="rect">
            <a:avLst/>
          </a:prstGeom>
          <a:solidFill>
            <a:srgbClr val="FFFFFF">
              <a:alpha val="10000"/>
            </a:srgbClr>
          </a:solidFill>
          <a:ln w="12700">
            <a:solidFill>
              <a:srgbClr val="00A896"/>
            </a:solidFill>
            <a:prstDash val="solid"/>
          </a:ln>
        </p:spPr>
      </p:sp>
      <p:sp>
        <p:nvSpPr>
          <p:cNvPr id="10" name="Text 8"/>
          <p:cNvSpPr/>
          <p:nvPr/>
        </p:nvSpPr>
        <p:spPr>
          <a:xfrm>
            <a:off x="6903720" y="2331720"/>
            <a:ext cx="4754880" cy="320040"/>
          </a:xfrm>
          <a:prstGeom prst="rect">
            <a:avLst/>
          </a:prstGeom>
          <a:noFill/>
          <a:ln/>
        </p:spPr>
        <p:txBody>
          <a:bodyPr wrap="square" lIns="0" tIns="0" rIns="0" bIns="0" rtlCol="0" anchor="ctr"/>
          <a:lstStyle/>
          <a:p>
            <a:pPr marL="0" indent="0">
              <a:buNone/>
            </a:pPr>
            <a:r>
              <a:rPr lang="en-US" sz="1100" b="1" kern="0" spc="300" dirty="0">
                <a:solidFill>
                  <a:srgbClr val="00A896"/>
                </a:solidFill>
                <a:latin typeface="Calibri" pitchFamily="34" charset="0"/>
                <a:ea typeface="Calibri" pitchFamily="34" charset="-122"/>
                <a:cs typeface="Calibri" pitchFamily="34" charset="-120"/>
              </a:rPr>
              <a:t>LIMITATIONS</a:t>
            </a:r>
            <a:endParaRPr lang="en-US" sz="1100" dirty="0"/>
          </a:p>
        </p:txBody>
      </p:sp>
      <p:sp>
        <p:nvSpPr>
          <p:cNvPr id="11" name="Text 9"/>
          <p:cNvSpPr/>
          <p:nvPr/>
        </p:nvSpPr>
        <p:spPr>
          <a:xfrm>
            <a:off x="6995160" y="2651760"/>
            <a:ext cx="4663440" cy="16459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FFFFFF"/>
                </a:solidFill>
              </a:rPr>
              <a:t>Class imbalance hurts sensitivity across every model.</a:t>
            </a:r>
            <a:endParaRPr lang="en-US" sz="1200" dirty="0"/>
          </a:p>
          <a:p>
            <a:pPr marL="342900" indent="-342900">
              <a:spcAft>
                <a:spcPts val="600"/>
              </a:spcAft>
              <a:buSzPct val="100000"/>
              <a:buChar char="●"/>
            </a:pPr>
            <a:r>
              <a:rPr lang="en-US" sz="1200" dirty="0">
                <a:solidFill>
                  <a:srgbClr val="FFFFFF"/>
                </a:solidFill>
              </a:rPr>
              <a:t>Income and age outliers were left in for transparency, not adjusted.</a:t>
            </a:r>
            <a:endParaRPr lang="en-US" sz="1200" dirty="0"/>
          </a:p>
          <a:p>
            <a:pPr marL="342900" indent="-342900">
              <a:buSzPct val="100000"/>
              <a:buChar char="●"/>
            </a:pPr>
            <a:r>
              <a:rPr lang="en-US" sz="1200" dirty="0">
                <a:solidFill>
                  <a:srgbClr val="FFFFFF"/>
                </a:solidFill>
              </a:rPr>
              <a:t>Single dataset, single point in time, single retailer.</a:t>
            </a:r>
            <a:endParaRPr lang="en-US" sz="1200" dirty="0"/>
          </a:p>
        </p:txBody>
      </p:sp>
      <p:sp>
        <p:nvSpPr>
          <p:cNvPr id="12" name="Text 10"/>
          <p:cNvSpPr/>
          <p:nvPr/>
        </p:nvSpPr>
        <p:spPr>
          <a:xfrm>
            <a:off x="6903720" y="4434840"/>
            <a:ext cx="4754880" cy="320040"/>
          </a:xfrm>
          <a:prstGeom prst="rect">
            <a:avLst/>
          </a:prstGeom>
          <a:noFill/>
          <a:ln/>
        </p:spPr>
        <p:txBody>
          <a:bodyPr wrap="square" lIns="0" tIns="0" rIns="0" bIns="0" rtlCol="0" anchor="ctr"/>
          <a:lstStyle/>
          <a:p>
            <a:pPr marL="0" indent="0">
              <a:buNone/>
            </a:pPr>
            <a:r>
              <a:rPr lang="en-US" sz="1100" b="1" kern="0" spc="300" dirty="0">
                <a:solidFill>
                  <a:srgbClr val="00A896"/>
                </a:solidFill>
                <a:latin typeface="Calibri" pitchFamily="34" charset="0"/>
                <a:ea typeface="Calibri" pitchFamily="34" charset="-122"/>
                <a:cs typeface="Calibri" pitchFamily="34" charset="-120"/>
              </a:rPr>
              <a:t>FUTURE WORK</a:t>
            </a:r>
            <a:endParaRPr lang="en-US" sz="1100" dirty="0"/>
          </a:p>
        </p:txBody>
      </p:sp>
      <p:sp>
        <p:nvSpPr>
          <p:cNvPr id="13" name="Text 11"/>
          <p:cNvSpPr/>
          <p:nvPr/>
        </p:nvSpPr>
        <p:spPr>
          <a:xfrm>
            <a:off x="6995160" y="4754880"/>
            <a:ext cx="4663440" cy="15544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FFFFFF"/>
                </a:solidFill>
              </a:rPr>
              <a:t>Try SMOTE or class weights to fix the imbalance.</a:t>
            </a:r>
            <a:endParaRPr lang="en-US" sz="1200" dirty="0"/>
          </a:p>
          <a:p>
            <a:pPr marL="342900" indent="-342900">
              <a:spcAft>
                <a:spcPts val="600"/>
              </a:spcAft>
              <a:buSzPct val="100000"/>
              <a:buChar char="●"/>
            </a:pPr>
            <a:r>
              <a:rPr lang="en-US" sz="1200" dirty="0">
                <a:solidFill>
                  <a:srgbClr val="FFFFFF"/>
                </a:solidFill>
              </a:rPr>
              <a:t>Test Random Forest and gradient boosting against the Decision Tree.</a:t>
            </a:r>
            <a:endParaRPr lang="en-US" sz="1200" dirty="0"/>
          </a:p>
          <a:p>
            <a:pPr marL="342900" indent="-342900">
              <a:buSzPct val="100000"/>
              <a:buChar char="●"/>
            </a:pPr>
            <a:r>
              <a:rPr lang="en-US" sz="1200" dirty="0">
                <a:solidFill>
                  <a:srgbClr val="FFFFFF"/>
                </a:solidFill>
              </a:rPr>
              <a:t>Use clusters as a feature inside the classifier.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943600" cy="6858000"/>
          </a:xfrm>
          <a:prstGeom prst="rect">
            <a:avLst/>
          </a:prstGeom>
          <a:solidFill>
            <a:srgbClr val="0B3A3C"/>
          </a:solidFill>
          <a:ln w="12700">
            <a:solidFill>
              <a:srgbClr val="0B3A3C"/>
            </a:solidFill>
            <a:prstDash val="solid"/>
          </a:ln>
        </p:spPr>
      </p:sp>
      <p:sp>
        <p:nvSpPr>
          <p:cNvPr id="3" name="Shape 1"/>
          <p:cNvSpPr/>
          <p:nvPr/>
        </p:nvSpPr>
        <p:spPr>
          <a:xfrm>
            <a:off x="640080" y="731520"/>
            <a:ext cx="201168" cy="201168"/>
          </a:xfrm>
          <a:prstGeom prst="ellipse">
            <a:avLst/>
          </a:prstGeom>
          <a:solidFill>
            <a:srgbClr val="00A896"/>
          </a:solidFill>
          <a:ln w="12700">
            <a:solidFill>
              <a:srgbClr val="00A896"/>
            </a:solidFill>
            <a:prstDash val="solid"/>
          </a:ln>
        </p:spPr>
      </p:sp>
      <p:sp>
        <p:nvSpPr>
          <p:cNvPr id="4" name="Shape 2"/>
          <p:cNvSpPr/>
          <p:nvPr/>
        </p:nvSpPr>
        <p:spPr>
          <a:xfrm>
            <a:off x="914400" y="731520"/>
            <a:ext cx="201168" cy="201168"/>
          </a:xfrm>
          <a:prstGeom prst="ellipse">
            <a:avLst/>
          </a:prstGeom>
          <a:solidFill>
            <a:srgbClr val="F0A202"/>
          </a:solidFill>
          <a:ln w="12700">
            <a:solidFill>
              <a:srgbClr val="F0A202"/>
            </a:solidFill>
            <a:prstDash val="solid"/>
          </a:ln>
        </p:spPr>
      </p:sp>
      <p:sp>
        <p:nvSpPr>
          <p:cNvPr id="5" name="Shape 3"/>
          <p:cNvSpPr/>
          <p:nvPr/>
        </p:nvSpPr>
        <p:spPr>
          <a:xfrm>
            <a:off x="1188720" y="731520"/>
            <a:ext cx="201168" cy="201168"/>
          </a:xfrm>
          <a:prstGeom prst="ellipse">
            <a:avLst/>
          </a:prstGeom>
          <a:solidFill>
            <a:srgbClr val="FFFFFF"/>
          </a:solidFill>
          <a:ln w="12700">
            <a:solidFill>
              <a:srgbClr val="FFFFFF"/>
            </a:solidFill>
            <a:prstDash val="solid"/>
          </a:ln>
        </p:spPr>
      </p:sp>
      <p:sp>
        <p:nvSpPr>
          <p:cNvPr id="6" name="Text 4"/>
          <p:cNvSpPr/>
          <p:nvPr/>
        </p:nvSpPr>
        <p:spPr>
          <a:xfrm>
            <a:off x="640080" y="2560320"/>
            <a:ext cx="5029200" cy="914400"/>
          </a:xfrm>
          <a:prstGeom prst="rect">
            <a:avLst/>
          </a:prstGeom>
          <a:noFill/>
          <a:ln/>
        </p:spPr>
        <p:txBody>
          <a:bodyPr wrap="square" lIns="0" tIns="0" rIns="0" bIns="0"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Thank you.</a:t>
            </a:r>
            <a:endParaRPr lang="en-US" sz="5600" dirty="0"/>
          </a:p>
        </p:txBody>
      </p:sp>
      <p:sp>
        <p:nvSpPr>
          <p:cNvPr id="7" name="Text 5"/>
          <p:cNvSpPr/>
          <p:nvPr/>
        </p:nvSpPr>
        <p:spPr>
          <a:xfrm>
            <a:off x="640080" y="3566160"/>
            <a:ext cx="5029200" cy="640080"/>
          </a:xfrm>
          <a:prstGeom prst="rect">
            <a:avLst/>
          </a:prstGeom>
          <a:noFill/>
          <a:ln/>
        </p:spPr>
        <p:txBody>
          <a:bodyPr wrap="square" lIns="0" tIns="0" rIns="0" bIns="0" rtlCol="0" anchor="ctr"/>
          <a:lstStyle/>
          <a:p>
            <a:pPr marL="0" indent="0">
              <a:buNone/>
            </a:pPr>
            <a:r>
              <a:rPr lang="en-US" sz="2800" i="1" dirty="0">
                <a:solidFill>
                  <a:srgbClr val="00A896"/>
                </a:solidFill>
                <a:latin typeface="Calibri" pitchFamily="34" charset="0"/>
                <a:ea typeface="Calibri" pitchFamily="34" charset="-122"/>
                <a:cs typeface="Calibri" pitchFamily="34" charset="-120"/>
              </a:rPr>
              <a:t>Questions?</a:t>
            </a:r>
            <a:endParaRPr lang="en-US" sz="2800" dirty="0"/>
          </a:p>
        </p:txBody>
      </p:sp>
      <p:sp>
        <p:nvSpPr>
          <p:cNvPr id="8" name="Text 6"/>
          <p:cNvSpPr/>
          <p:nvPr/>
        </p:nvSpPr>
        <p:spPr>
          <a:xfrm>
            <a:off x="6583680" y="2011680"/>
            <a:ext cx="5029200" cy="320040"/>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TEAM</a:t>
            </a:r>
            <a:endParaRPr lang="en-US" sz="1100" dirty="0"/>
          </a:p>
        </p:txBody>
      </p:sp>
      <p:sp>
        <p:nvSpPr>
          <p:cNvPr id="9" name="Text 7"/>
          <p:cNvSpPr/>
          <p:nvPr/>
        </p:nvSpPr>
        <p:spPr>
          <a:xfrm>
            <a:off x="6583680" y="2423160"/>
            <a:ext cx="5029200" cy="2743200"/>
          </a:xfrm>
          <a:prstGeom prst="rect">
            <a:avLst/>
          </a:prstGeom>
          <a:noFill/>
          <a:ln/>
        </p:spPr>
        <p:txBody>
          <a:bodyPr wrap="square" lIns="0" tIns="0" rIns="0" bIns="0" rtlCol="0" anchor="t"/>
          <a:lstStyle/>
          <a:p>
            <a:pPr marL="0" indent="0">
              <a:spcAft>
                <a:spcPts val="800"/>
              </a:spcAft>
              <a:buNone/>
            </a:pPr>
            <a:r>
              <a:rPr lang="en-US" sz="1800" b="1" dirty="0">
                <a:solidFill>
                  <a:srgbClr val="1F2937"/>
                </a:solidFill>
              </a:rPr>
              <a:t>Sofia Foutzitzi</a:t>
            </a:r>
            <a:endParaRPr lang="en-US" sz="1800" dirty="0"/>
          </a:p>
          <a:p>
            <a:pPr marL="0" indent="0">
              <a:spcAft>
                <a:spcPts val="800"/>
              </a:spcAft>
              <a:buNone/>
            </a:pPr>
            <a:r>
              <a:rPr lang="en-US" sz="1800" b="1" dirty="0">
                <a:solidFill>
                  <a:srgbClr val="1F2937"/>
                </a:solidFill>
              </a:rPr>
              <a:t>Niranjan K C</a:t>
            </a:r>
            <a:endParaRPr lang="en-US" sz="1800" dirty="0"/>
          </a:p>
          <a:p>
            <a:pPr marL="0" indent="0">
              <a:spcAft>
                <a:spcPts val="800"/>
              </a:spcAft>
              <a:buNone/>
            </a:pPr>
            <a:r>
              <a:rPr lang="en-US" sz="1800" b="1" dirty="0">
                <a:solidFill>
                  <a:srgbClr val="1F2937"/>
                </a:solidFill>
              </a:rPr>
              <a:t>Jivitesh Marken</a:t>
            </a:r>
            <a:endParaRPr lang="en-US" sz="1800" dirty="0"/>
          </a:p>
          <a:p>
            <a:pPr marL="0" indent="0">
              <a:buNone/>
            </a:pPr>
            <a:r>
              <a:rPr lang="en-US" sz="1800" b="1" dirty="0">
                <a:solidFill>
                  <a:srgbClr val="1F2937"/>
                </a:solidFill>
              </a:rPr>
              <a:t>Oluwadamilola Bright-Awonuga</a:t>
            </a:r>
            <a:endParaRPr lang="en-US" sz="1800" dirty="0"/>
          </a:p>
        </p:txBody>
      </p:sp>
      <p:sp>
        <p:nvSpPr>
          <p:cNvPr id="10" name="Shape 8"/>
          <p:cNvSpPr/>
          <p:nvPr/>
        </p:nvSpPr>
        <p:spPr>
          <a:xfrm>
            <a:off x="6583680" y="5303520"/>
            <a:ext cx="3657600" cy="0"/>
          </a:xfrm>
          <a:prstGeom prst="line">
            <a:avLst/>
          </a:prstGeom>
          <a:noFill/>
          <a:ln w="12700">
            <a:solidFill>
              <a:srgbClr val="E2E8F0"/>
            </a:solidFill>
            <a:prstDash val="solid"/>
          </a:ln>
        </p:spPr>
      </p:sp>
      <p:sp>
        <p:nvSpPr>
          <p:cNvPr id="11" name="Text 9"/>
          <p:cNvSpPr/>
          <p:nvPr/>
        </p:nvSpPr>
        <p:spPr>
          <a:xfrm>
            <a:off x="6583680" y="5440680"/>
            <a:ext cx="502920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CIS 468  /  Spring 2026  /  Dr. McGuire</a:t>
            </a:r>
            <a:endParaRPr lang="en-US" sz="1300" dirty="0"/>
          </a:p>
        </p:txBody>
      </p:sp>
      <p:sp>
        <p:nvSpPr>
          <p:cNvPr id="12" name="Text 10"/>
          <p:cNvSpPr/>
          <p:nvPr/>
        </p:nvSpPr>
        <p:spPr>
          <a:xfrm>
            <a:off x="6583680" y="6035040"/>
            <a:ext cx="5029200" cy="36576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Dataset: Customer Personality Analysis  /  Kaggle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CIS 468 Final Project Presentation</dc:title>
  <dc:subject>PptxGenJS Presentation</dc:subject>
  <dc:creator>Ayomide Omikunle</dc:creator>
  <cp:lastModifiedBy>Ayomide Omikunle</cp:lastModifiedBy>
  <cp:revision>2</cp:revision>
  <dcterms:created xsi:type="dcterms:W3CDTF">2026-05-10T21:43:27Z</dcterms:created>
  <dcterms:modified xsi:type="dcterms:W3CDTF">2026-05-12T23:46:41Z</dcterms:modified>
</cp:coreProperties>
</file>